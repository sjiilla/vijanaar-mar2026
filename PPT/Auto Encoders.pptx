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79" r:id="rId5"/>
    <p:sldId id="280" r:id="rId6"/>
    <p:sldId id="259" r:id="rId7"/>
    <p:sldId id="263" r:id="rId8"/>
    <p:sldId id="262" r:id="rId9"/>
    <p:sldId id="265" r:id="rId10"/>
    <p:sldId id="271" r:id="rId11"/>
    <p:sldId id="28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370330" y="844868"/>
            <a:ext cx="9144000" cy="2387600"/>
          </a:xfrm>
        </p:spPr>
        <p:txBody>
          <a:bodyPr/>
          <a:p>
            <a:r>
              <a:rPr lang="en-US" sz="5000"/>
              <a:t>Auto Encoders </a:t>
            </a:r>
            <a:br>
              <a:rPr lang="en-US" sz="5000"/>
            </a:br>
            <a:r>
              <a:rPr lang="en-US" sz="5000"/>
              <a:t>in AI(Deep Learning)</a:t>
            </a:r>
            <a:endParaRPr lang="en-US" sz="5000"/>
          </a:p>
        </p:txBody>
      </p:sp>
      <p:sp>
        <p:nvSpPr>
          <p:cNvPr id="3" name="Subtitle 2"/>
          <p:cNvSpPr>
            <a:spLocks noGrp="1"/>
          </p:cNvSpPr>
          <p:nvPr>
            <p:ph type="subTitle" idx="1"/>
          </p:nvPr>
        </p:nvSpPr>
        <p:spPr/>
        <p:txBody>
          <a:bodyPr>
            <a:normAutofit lnSpcReduction="20000"/>
          </a:bodyPr>
          <a:p>
            <a:endParaRPr lang="en-US">
              <a:solidFill>
                <a:schemeClr val="accent1">
                  <a:lumMod val="75000"/>
                </a:schemeClr>
              </a:solidFill>
            </a:endParaRPr>
          </a:p>
          <a:p>
            <a:r>
              <a:rPr lang="en-US">
                <a:solidFill>
                  <a:schemeClr val="accent1">
                    <a:lumMod val="75000"/>
                  </a:schemeClr>
                </a:solidFill>
              </a:rPr>
              <a:t>Mr. Sreennivas Jilla</a:t>
            </a:r>
            <a:endParaRPr lang="en-US">
              <a:solidFill>
                <a:schemeClr val="accent1">
                  <a:lumMod val="75000"/>
                </a:schemeClr>
              </a:solidFill>
            </a:endParaRPr>
          </a:p>
          <a:p>
            <a:r>
              <a:rPr lang="en-US">
                <a:solidFill>
                  <a:schemeClr val="accent1">
                    <a:lumMod val="75000"/>
                  </a:schemeClr>
                </a:solidFill>
              </a:rPr>
              <a:t>Lead AI-ML/Data Science/Gen AI Instructor</a:t>
            </a:r>
            <a:endParaRPr lang="en-US">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marL="457200" lvl="1" indent="0">
              <a:buNone/>
            </a:pPr>
            <a:r>
              <a:rPr lang="en-US" sz="2800" b="1"/>
              <a:t>Introduction</a:t>
            </a:r>
            <a:endParaRPr lang="en-US" sz="2800" b="1"/>
          </a:p>
          <a:p>
            <a:pPr lvl="1"/>
            <a:r>
              <a:rPr lang="en-US" sz="2000"/>
              <a:t>In the world of deep learning, Auto-encoder is a type of neural network used for unsupervised learning and dimensionality reduction.</a:t>
            </a:r>
            <a:endParaRPr lang="en-US" sz="2000"/>
          </a:p>
          <a:p>
            <a:pPr lvl="1"/>
            <a:r>
              <a:rPr lang="en-US" sz="2000"/>
              <a:t>Autoencoders are very useful in the field of unsupervised machine learning</a:t>
            </a:r>
            <a:endParaRPr lang="en-US" sz="2000"/>
          </a:p>
          <a:p>
            <a:pPr lvl="1"/>
            <a:r>
              <a:rPr lang="en-US" sz="2000"/>
              <a:t>Auto-encoder is helpful in representing a bunch of datain to a compact form.</a:t>
            </a:r>
            <a:endParaRPr lang="en-US" sz="2000"/>
          </a:p>
          <a:p>
            <a:pPr lvl="1"/>
            <a:r>
              <a:rPr lang="en-US" sz="2000"/>
              <a:t>And way of compressing data into lower dimensions is known as the Encoding.</a:t>
            </a:r>
            <a:endParaRPr lang="en-US" sz="2000"/>
          </a:p>
          <a:p>
            <a:pPr lvl="1"/>
            <a:r>
              <a:rPr lang="en-US" sz="2000"/>
              <a:t>Auto-encoder also reverse the process of encoding to get original dimensions.</a:t>
            </a:r>
            <a:endParaRPr lang="en-US" sz="2000"/>
          </a:p>
          <a:p>
            <a:pPr lvl="1"/>
            <a:r>
              <a:rPr lang="en-US" sz="2000"/>
              <a:t>Autoencoders have various applications, from data denoising and anomaly detection to feature learning and generating new data samples. </a:t>
            </a:r>
            <a:endParaRPr lang="en-US" sz="2000"/>
          </a:p>
          <a:p>
            <a:pPr lvl="1"/>
            <a:endParaRPr lang="en-US" sz="2000"/>
          </a:p>
          <a:p>
            <a:pPr lvl="1"/>
            <a:endParaRPr lang="en-US" sz="2000"/>
          </a:p>
          <a:p>
            <a:pPr lvl="1"/>
            <a:endParaRPr lang="en-US" sz="2000"/>
          </a:p>
        </p:txBody>
      </p:sp>
      <p:sp>
        <p:nvSpPr>
          <p:cNvPr id="6" name="Rectangles 5"/>
          <p:cNvSpPr/>
          <p:nvPr/>
        </p:nvSpPr>
        <p:spPr>
          <a:xfrm>
            <a:off x="1023620" y="0"/>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AUTO ENCODERS IN DEEP LEARNING </a:t>
            </a:r>
            <a:endParaRPr lang="en-US" sz="3200" b="1"/>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marL="457200" lvl="1" indent="0">
              <a:buNone/>
            </a:pPr>
            <a:endParaRPr lang="en-US" b="1"/>
          </a:p>
          <a:p>
            <a:pPr lvl="1"/>
            <a:endParaRPr lang="en-US" sz="2000"/>
          </a:p>
        </p:txBody>
      </p:sp>
      <p:sp>
        <p:nvSpPr>
          <p:cNvPr id="6" name="Rectangles 5"/>
          <p:cNvSpPr/>
          <p:nvPr/>
        </p:nvSpPr>
        <p:spPr>
          <a:xfrm>
            <a:off x="833120" y="-10795"/>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Illustration of AUTO ENCODERS </a:t>
            </a:r>
            <a:endParaRPr lang="en-US" sz="3200" b="1"/>
          </a:p>
        </p:txBody>
      </p:sp>
      <p:pic>
        <p:nvPicPr>
          <p:cNvPr id="2" name="Picture 1"/>
          <p:cNvPicPr/>
          <p:nvPr/>
        </p:nvPicPr>
        <p:blipFill>
          <a:blip r:embed="rId1"/>
          <a:stretch>
            <a:fillRect/>
          </a:stretch>
        </p:blipFill>
        <p:spPr>
          <a:xfrm>
            <a:off x="156845" y="1097280"/>
            <a:ext cx="11911965" cy="57613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marL="457200" lvl="1" indent="0">
              <a:buNone/>
            </a:pPr>
            <a:endParaRPr lang="en-US" b="1"/>
          </a:p>
          <a:p>
            <a:pPr lvl="1"/>
            <a:endParaRPr lang="en-US" sz="2000"/>
          </a:p>
        </p:txBody>
      </p:sp>
      <p:sp>
        <p:nvSpPr>
          <p:cNvPr id="6" name="Rectangles 5"/>
          <p:cNvSpPr/>
          <p:nvPr/>
        </p:nvSpPr>
        <p:spPr>
          <a:xfrm>
            <a:off x="833120" y="-10795"/>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Architecture of AUTO ENCODERS </a:t>
            </a:r>
            <a:endParaRPr lang="en-US" sz="3200" b="1"/>
          </a:p>
        </p:txBody>
      </p:sp>
      <p:pic>
        <p:nvPicPr>
          <p:cNvPr id="4" name="Picture 3"/>
          <p:cNvPicPr/>
          <p:nvPr/>
        </p:nvPicPr>
        <p:blipFill>
          <a:blip r:embed="rId1"/>
          <a:stretch>
            <a:fillRect/>
          </a:stretch>
        </p:blipFill>
        <p:spPr>
          <a:xfrm>
            <a:off x="1711325" y="937260"/>
            <a:ext cx="8957945" cy="5740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marL="457200" lvl="1" indent="0">
              <a:buNone/>
            </a:pPr>
            <a:r>
              <a:rPr lang="en-US" b="1"/>
              <a:t>Architecture </a:t>
            </a:r>
            <a:endParaRPr lang="en-US" b="1"/>
          </a:p>
          <a:p>
            <a:pPr lvl="1"/>
            <a:r>
              <a:rPr lang="en-US" sz="2000"/>
              <a:t>An Autoencoder is a type of neural network that can learn to reconstruct images, text, and other data from compressed versions of themselves.</a:t>
            </a:r>
            <a:endParaRPr lang="en-US" sz="2000"/>
          </a:p>
          <a:p>
            <a:pPr lvl="1"/>
            <a:r>
              <a:rPr lang="en-US" sz="2000"/>
              <a:t>An Autoencoder consists of three layers:</a:t>
            </a:r>
            <a:endParaRPr lang="en-US" sz="2000"/>
          </a:p>
          <a:p>
            <a:pPr lvl="2"/>
            <a:r>
              <a:rPr lang="en-US"/>
              <a:t>Encoder</a:t>
            </a:r>
            <a:endParaRPr lang="en-US"/>
          </a:p>
          <a:p>
            <a:pPr lvl="2"/>
            <a:r>
              <a:rPr lang="en-US"/>
              <a:t>Code</a:t>
            </a:r>
            <a:endParaRPr lang="en-US"/>
          </a:p>
          <a:p>
            <a:pPr lvl="2"/>
            <a:r>
              <a:rPr lang="en-US"/>
              <a:t>Decoder</a:t>
            </a:r>
            <a:endParaRPr lang="en-US"/>
          </a:p>
          <a:p>
            <a:pPr lvl="1"/>
            <a:r>
              <a:rPr lang="en-US" sz="2000" b="1"/>
              <a:t>The Encoder layer</a:t>
            </a:r>
            <a:r>
              <a:rPr lang="en-US" sz="2000"/>
              <a:t> compresses the input image into a latent space representation. It encodes the input image as a compressed representation in a reduced dimension. </a:t>
            </a:r>
            <a:endParaRPr lang="en-US" sz="2000"/>
          </a:p>
          <a:p>
            <a:pPr lvl="1"/>
            <a:r>
              <a:rPr lang="en-US" sz="2000"/>
              <a:t>The compressed image is a distorted version of the original image.</a:t>
            </a:r>
            <a:endParaRPr lang="en-US" sz="2000"/>
          </a:p>
          <a:p>
            <a:pPr lvl="1"/>
            <a:r>
              <a:rPr lang="en-US" sz="2000" b="1"/>
              <a:t>The Code layer</a:t>
            </a:r>
            <a:r>
              <a:rPr lang="en-US" sz="2000"/>
              <a:t> represents the compressed input fed to the decoder layer. </a:t>
            </a:r>
            <a:endParaRPr lang="en-US" sz="2000"/>
          </a:p>
          <a:p>
            <a:pPr lvl="1"/>
            <a:r>
              <a:rPr lang="en-US" sz="2000" b="1"/>
              <a:t>The decoder layer </a:t>
            </a:r>
            <a:r>
              <a:rPr lang="en-US" sz="2000"/>
              <a:t>decodes the encoded image back to the original dimension. </a:t>
            </a:r>
            <a:endParaRPr lang="en-US" sz="2000"/>
          </a:p>
          <a:p>
            <a:pPr lvl="1"/>
            <a:r>
              <a:rPr lang="en-US" sz="2000"/>
              <a:t>The decoded image is reconstructed from latent space representation, and it is reconstructed from the latent space representation and is a lossy reconstruction of the original image.</a:t>
            </a:r>
            <a:endParaRPr lang="en-US" sz="2000"/>
          </a:p>
          <a:p>
            <a:pPr lvl="1"/>
            <a:endParaRPr lang="en-US" sz="2000"/>
          </a:p>
          <a:p>
            <a:pPr lvl="1"/>
            <a:endParaRPr lang="en-US" sz="2000"/>
          </a:p>
        </p:txBody>
      </p:sp>
      <p:sp>
        <p:nvSpPr>
          <p:cNvPr id="6" name="Rectangles 5"/>
          <p:cNvSpPr/>
          <p:nvPr/>
        </p:nvSpPr>
        <p:spPr>
          <a:xfrm>
            <a:off x="1377950" y="0"/>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Architecture AUTO ENCODERS </a:t>
            </a:r>
            <a:endParaRPr lang="en-US" sz="3200" b="1"/>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lvl="1"/>
            <a:r>
              <a:rPr lang="en-US" sz="2000"/>
              <a:t>There are several usages of autoencoders, some major usages are:</a:t>
            </a:r>
            <a:endParaRPr lang="en-US" sz="2000"/>
          </a:p>
          <a:p>
            <a:pPr lvl="1"/>
            <a:r>
              <a:rPr lang="en-US" sz="2000" b="1"/>
              <a:t>Colouring of images</a:t>
            </a:r>
            <a:endParaRPr lang="en-US" sz="2000" b="1"/>
          </a:p>
          <a:p>
            <a:pPr lvl="2"/>
            <a:r>
              <a:rPr lang="en-US" sz="1665"/>
              <a:t>Autoencoders is used for colouring of any black and white picture. Depending on the picture it can be easily identified that which colour should be used for colouring.</a:t>
            </a:r>
            <a:endParaRPr lang="en-US" sz="1665"/>
          </a:p>
          <a:p>
            <a:pPr lvl="1"/>
            <a:r>
              <a:rPr lang="en-US" sz="2000" b="1"/>
              <a:t>Dimensionality Reduction</a:t>
            </a:r>
            <a:endParaRPr lang="en-US" sz="2000" b="1"/>
          </a:p>
          <a:p>
            <a:pPr lvl="2"/>
            <a:r>
              <a:rPr lang="en-US" sz="1665"/>
              <a:t>Autoencoders are used to reconstruct a given image by reducing its dimensions. Dimensionality reduction using autoencoders results from a similar image with reduced pixel values. Loss of picture information is almost minimal.</a:t>
            </a:r>
            <a:endParaRPr lang="en-US" sz="1665"/>
          </a:p>
          <a:p>
            <a:pPr lvl="1"/>
            <a:r>
              <a:rPr lang="en-US" sz="2000" b="1"/>
              <a:t>Removing noises from images.</a:t>
            </a:r>
            <a:endParaRPr lang="en-US" sz="2000"/>
          </a:p>
          <a:p>
            <a:pPr lvl="2"/>
            <a:r>
              <a:rPr lang="en-US" sz="1665"/>
              <a:t>Autoencoders are used to remove noises from input images. In this process, the original input image was reconstructed from the noisy image.</a:t>
            </a:r>
            <a:endParaRPr lang="en-US" sz="1665"/>
          </a:p>
          <a:p>
            <a:pPr lvl="1"/>
            <a:r>
              <a:rPr lang="en-US" sz="2000" b="1"/>
              <a:t>Feature Variation</a:t>
            </a:r>
            <a:endParaRPr lang="en-US" sz="2000" b="1"/>
          </a:p>
          <a:p>
            <a:pPr lvl="2"/>
            <a:r>
              <a:rPr lang="en-US" sz="1665"/>
              <a:t>One can extract the required feature of an image using autoencoder and generates the desired output by eliminating the noise or unnecessary interruption from the image.</a:t>
            </a:r>
            <a:endParaRPr lang="en-US" sz="1665"/>
          </a:p>
          <a:p>
            <a:pPr lvl="1"/>
            <a:r>
              <a:rPr lang="en-US" sz="2000" b="1"/>
              <a:t>Removing watermarks from images.</a:t>
            </a:r>
            <a:endParaRPr lang="en-US" sz="2000" b="1"/>
          </a:p>
          <a:p>
            <a:pPr lvl="2"/>
            <a:r>
              <a:rPr lang="en-US" sz="1665"/>
              <a:t>Using autoencoders, one can also remove the watermarks present in an image.</a:t>
            </a:r>
            <a:endParaRPr lang="en-US" sz="1665"/>
          </a:p>
        </p:txBody>
      </p:sp>
      <p:sp>
        <p:nvSpPr>
          <p:cNvPr id="6" name="Rectangles 5"/>
          <p:cNvSpPr/>
          <p:nvPr/>
        </p:nvSpPr>
        <p:spPr>
          <a:xfrm>
            <a:off x="1146810" y="-10795"/>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Usage of autoencoders.</a:t>
            </a:r>
            <a:endParaRPr lang="en-US" sz="320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marL="914400" lvl="1" indent="-457200">
              <a:buAutoNum type="arabicPeriod"/>
            </a:pPr>
            <a:r>
              <a:rPr lang="en-US" sz="2000" b="1"/>
              <a:t>Denoising autoencoder: </a:t>
            </a:r>
            <a:r>
              <a:rPr lang="en-US" sz="2000"/>
              <a:t>Denoising autoencoders make a ruined duplicate of the input by presenting some noise. These autoencoders take a somewhat corrupted input while preparing to recover the first undistorted information.</a:t>
            </a:r>
            <a:endParaRPr lang="en-US" sz="2000"/>
          </a:p>
          <a:p>
            <a:pPr marL="914400" lvl="1" indent="-457200">
              <a:buAutoNum type="arabicPeriod"/>
            </a:pPr>
            <a:r>
              <a:rPr lang="en-US" sz="2000" b="1"/>
              <a:t>Sparse Autoencoder: </a:t>
            </a:r>
            <a:r>
              <a:rPr lang="en-US" sz="2000"/>
              <a:t>Sparse autoencoders have hidden nodes more noteworthy than input nodes. They can, in any case, find significant highlights from the data. Their limitations were shown on the hidden layer.</a:t>
            </a:r>
            <a:endParaRPr lang="en-US" sz="2000"/>
          </a:p>
          <a:p>
            <a:pPr marL="914400" lvl="1" indent="-457200">
              <a:buAutoNum type="arabicPeriod"/>
            </a:pPr>
            <a:r>
              <a:rPr lang="en-US" sz="2000" b="1"/>
              <a:t>Deep Autoencoder:</a:t>
            </a:r>
            <a:r>
              <a:rPr lang="en-US" sz="2000"/>
              <a:t> Deep Autoencoders comprise of two indistinguishable deep conviction networks, one system for encoding and another for decoding.</a:t>
            </a:r>
            <a:endParaRPr lang="en-US" sz="2000"/>
          </a:p>
          <a:p>
            <a:pPr marL="914400" lvl="1" indent="-457200">
              <a:buAutoNum type="arabicPeriod"/>
            </a:pPr>
            <a:r>
              <a:rPr lang="en-US" sz="2000" b="1"/>
              <a:t>Contractive Autoencoder:</a:t>
            </a:r>
            <a:r>
              <a:rPr lang="en-US" sz="2000"/>
              <a:t> The target of a contractive autoencoder is to have a strong learned representation which is less delicate to little variation in the data.</a:t>
            </a:r>
            <a:endParaRPr lang="en-US" sz="2000"/>
          </a:p>
          <a:p>
            <a:pPr marL="914400" lvl="1" indent="-457200">
              <a:buAutoNum type="arabicPeriod"/>
            </a:pPr>
            <a:r>
              <a:rPr lang="en-US" sz="2000" b="1"/>
              <a:t>Under complete Autoencoder:</a:t>
            </a:r>
            <a:r>
              <a:rPr lang="en-US" sz="2000"/>
              <a:t> The target of under complete autoencoder is to catch the most significant highlights present in the data. Under complete autoencoders have a littler measurement for the hidden layer contrasted with the input layer.</a:t>
            </a:r>
            <a:endParaRPr lang="en-US" sz="2000"/>
          </a:p>
          <a:p>
            <a:pPr marL="914400" lvl="1" indent="-457200">
              <a:buAutoNum type="arabicPeriod"/>
            </a:pPr>
            <a:r>
              <a:rPr lang="en-US" sz="2000" b="1">
                <a:highlight>
                  <a:srgbClr val="00FF00"/>
                </a:highlight>
              </a:rPr>
              <a:t>Variational Autoencoder: </a:t>
            </a:r>
            <a:r>
              <a:rPr lang="en-US" sz="2000">
                <a:highlight>
                  <a:srgbClr val="00FF00"/>
                </a:highlight>
              </a:rPr>
              <a:t>Variational autoencoder models make solid suspicions concerning the appropriation of latent factors. They implement a variational approach for latent representation learning, which brings about a loss component and a particular estimator for the algorithm training called the Stochastic Gradient Variational Bayes estimator.</a:t>
            </a:r>
            <a:endParaRPr lang="en-US" sz="2000">
              <a:highlight>
                <a:srgbClr val="00FF00"/>
              </a:highlight>
            </a:endParaRPr>
          </a:p>
          <a:p>
            <a:pPr lvl="1"/>
            <a:endParaRPr lang="en-US" sz="2000">
              <a:highlight>
                <a:srgbClr val="00FF00"/>
              </a:highlight>
            </a:endParaRPr>
          </a:p>
        </p:txBody>
      </p:sp>
      <p:sp>
        <p:nvSpPr>
          <p:cNvPr id="6" name="Rectangles 5"/>
          <p:cNvSpPr/>
          <p:nvPr/>
        </p:nvSpPr>
        <p:spPr>
          <a:xfrm>
            <a:off x="1374140" y="-10795"/>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sz="3200">
              <a:sym typeface="+mn-ea"/>
            </a:endParaRPr>
          </a:p>
          <a:p>
            <a:pPr algn="ctr"/>
            <a:r>
              <a:rPr lang="en-US" sz="3200">
                <a:sym typeface="+mn-ea"/>
              </a:rPr>
              <a:t>Types of autoencoders.</a:t>
            </a:r>
            <a:endParaRPr lang="en-US" sz="3200">
              <a:sym typeface="+mn-ea"/>
            </a:endParaRPr>
          </a:p>
          <a:p>
            <a:pPr algn="ctr"/>
            <a:r>
              <a:rPr lang="en-US" sz="3200">
                <a:sym typeface="+mn-ea"/>
              </a:rPr>
              <a:t> </a:t>
            </a:r>
            <a:endParaRPr lang="en-US" sz="3200" b="1"/>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lvl="1"/>
            <a:r>
              <a:rPr lang="en-US" sz="2000" b="1"/>
              <a:t>Encoding Magic:</a:t>
            </a:r>
            <a:endParaRPr lang="en-US" sz="2000" b="1"/>
          </a:p>
          <a:p>
            <a:pPr lvl="2"/>
            <a:r>
              <a:rPr lang="en-US" sz="1665" b="1"/>
              <a:t>Input Layer: </a:t>
            </a:r>
            <a:r>
              <a:rPr lang="en-US" sz="1665"/>
              <a:t>The journey begins with the input layer, where your data is fed into the autoencoder.</a:t>
            </a:r>
            <a:endParaRPr lang="en-US" sz="1665"/>
          </a:p>
          <a:p>
            <a:pPr lvl="2"/>
            <a:r>
              <a:rPr lang="en-US" sz="1665" b="1"/>
              <a:t>Encoder Network: </a:t>
            </a:r>
            <a:r>
              <a:rPr lang="en-US" sz="1665"/>
              <a:t>This network consists of multiple layers that progressively reduce the dimensionality of the input. Each layer transforms the data, capturing different levels of abstraction.</a:t>
            </a:r>
            <a:endParaRPr lang="en-US" sz="1665"/>
          </a:p>
          <a:p>
            <a:pPr lvl="1"/>
            <a:r>
              <a:rPr lang="en-US" sz="2000" b="1"/>
              <a:t>Bottleneck Revelation:</a:t>
            </a:r>
            <a:endParaRPr lang="en-US" sz="2000" b="1"/>
          </a:p>
          <a:p>
            <a:pPr lvl="2"/>
            <a:r>
              <a:rPr lang="en-US" sz="1665" b="1"/>
              <a:t>Bottleneck Layer: T</a:t>
            </a:r>
            <a:r>
              <a:rPr lang="en-US" sz="1665"/>
              <a:t>he lowest-dimensional layer, also known as the bottleneck or latent space, is where the data gets compressed into a concise representation. This layer holds the most essential features of the input.</a:t>
            </a:r>
            <a:endParaRPr lang="en-US" sz="1665"/>
          </a:p>
          <a:p>
            <a:pPr lvl="1"/>
            <a:r>
              <a:rPr lang="en-US" sz="2000" b="1"/>
              <a:t>Decoding Sorcery:</a:t>
            </a:r>
            <a:endParaRPr lang="en-US" sz="2000" b="1"/>
          </a:p>
          <a:p>
            <a:pPr lvl="2"/>
            <a:r>
              <a:rPr lang="en-US" sz="1665" b="1"/>
              <a:t>Decoder Network: </a:t>
            </a:r>
            <a:r>
              <a:rPr lang="en-US" sz="1665"/>
              <a:t>This part of the autoencoder starts with the encoded representation and works its way back to reconstruct the original input. Like an artist recreating a masterpiece, the decoder transforms the encoded data step by step.</a:t>
            </a:r>
            <a:endParaRPr lang="en-US" sz="1665"/>
          </a:p>
          <a:p>
            <a:pPr lvl="1"/>
            <a:r>
              <a:rPr lang="en-US" sz="2000" b="1"/>
              <a:t>Reconstruction Unveiling:</a:t>
            </a:r>
            <a:endParaRPr lang="en-US" sz="2000" b="1"/>
          </a:p>
          <a:p>
            <a:pPr lvl="2"/>
            <a:r>
              <a:rPr lang="en-US" sz="1665" b="1"/>
              <a:t>Output Layer: </a:t>
            </a:r>
            <a:r>
              <a:rPr lang="en-US" sz="1665"/>
              <a:t>The final layer of the autoencoder produces the reconstructed data. The goal during training is to make this output as close to the original input as possible.</a:t>
            </a:r>
            <a:endParaRPr lang="en-US" sz="1665"/>
          </a:p>
          <a:p>
            <a:pPr lvl="1"/>
            <a:r>
              <a:rPr lang="en-US" sz="2000" b="1"/>
              <a:t>Training Wizardry:</a:t>
            </a:r>
            <a:endParaRPr lang="en-US" sz="2000" b="1"/>
          </a:p>
          <a:p>
            <a:pPr lvl="2"/>
            <a:r>
              <a:rPr lang="en-US" sz="1665" b="1"/>
              <a:t>Loss Function:</a:t>
            </a:r>
            <a:r>
              <a:rPr lang="en-US" sz="1665"/>
              <a:t> A key component in training is the loss function, which measures the difference between the input and the reconstructed output. The autoencoder adjusts its internal weights and biases to minimize this difference during training.</a:t>
            </a:r>
            <a:endParaRPr lang="en-US" sz="1665" b="1"/>
          </a:p>
          <a:p>
            <a:pPr lvl="1"/>
            <a:endParaRPr lang="en-US" sz="2000" b="1"/>
          </a:p>
        </p:txBody>
      </p:sp>
      <p:sp>
        <p:nvSpPr>
          <p:cNvPr id="6" name="Rectangles 5"/>
          <p:cNvSpPr/>
          <p:nvPr/>
        </p:nvSpPr>
        <p:spPr>
          <a:xfrm>
            <a:off x="922020" y="0"/>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Working flow of Autoencoder</a:t>
            </a:r>
            <a:endParaRPr lang="en-US" sz="320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36600" y="937895"/>
            <a:ext cx="11169015" cy="5740400"/>
          </a:xfrm>
        </p:spPr>
        <p:txBody>
          <a:bodyPr>
            <a:noAutofit/>
          </a:bodyPr>
          <a:p>
            <a:pPr lvl="1"/>
            <a:r>
              <a:rPr lang="en-US" sz="2000"/>
              <a:t>The basic idea behind a variational autoencoder is that instead of mapping an input to fixed vector, input is </a:t>
            </a:r>
            <a:r>
              <a:rPr lang="en-US" sz="2000">
                <a:highlight>
                  <a:srgbClr val="00FF00"/>
                </a:highlight>
              </a:rPr>
              <a:t>mapped to a distribution</a:t>
            </a:r>
            <a:r>
              <a:rPr lang="en-US" sz="2000"/>
              <a:t>. </a:t>
            </a:r>
            <a:endParaRPr lang="en-US" sz="2000"/>
          </a:p>
          <a:p>
            <a:pPr lvl="1"/>
            <a:r>
              <a:rPr lang="en-US" sz="2000"/>
              <a:t>The difference between the autoencoder and variational autoencoder is that bottleneck vector is replaced with</a:t>
            </a:r>
            <a:r>
              <a:rPr lang="en-US" sz="2000" b="1"/>
              <a:t> two different vectors one representing the mean of the distribution and the other representing the standard deviation of the distribution.</a:t>
            </a:r>
            <a:endParaRPr lang="en-US" sz="2000" b="1"/>
          </a:p>
          <a:p>
            <a:pPr marL="457200" lvl="1" indent="0">
              <a:buNone/>
            </a:pPr>
            <a:endParaRPr lang="en-US" sz="2000">
              <a:solidFill>
                <a:schemeClr val="tx1"/>
              </a:solidFill>
            </a:endParaRPr>
          </a:p>
          <a:p>
            <a:pPr marL="457200" lvl="1" indent="0">
              <a:buNone/>
            </a:pPr>
            <a:endParaRPr lang="en-US" sz="2000">
              <a:solidFill>
                <a:schemeClr val="tx1"/>
              </a:solidFill>
            </a:endParaRPr>
          </a:p>
        </p:txBody>
      </p:sp>
      <p:sp>
        <p:nvSpPr>
          <p:cNvPr id="6" name="Rectangles 5"/>
          <p:cNvSpPr/>
          <p:nvPr/>
        </p:nvSpPr>
        <p:spPr>
          <a:xfrm>
            <a:off x="1335405" y="0"/>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a:sym typeface="+mn-ea"/>
              </a:rPr>
              <a:t>Variational Autoencoder(VAE)</a:t>
            </a:r>
            <a:endParaRPr lang="en-US" sz="3200">
              <a:sym typeface="+mn-ea"/>
            </a:endParaRPr>
          </a:p>
        </p:txBody>
      </p:sp>
      <p:pic>
        <p:nvPicPr>
          <p:cNvPr id="2" name="Picture 1"/>
          <p:cNvPicPr/>
          <p:nvPr/>
        </p:nvPicPr>
        <p:blipFill>
          <a:blip r:embed="rId1"/>
          <a:stretch>
            <a:fillRect/>
          </a:stretch>
        </p:blipFill>
        <p:spPr>
          <a:xfrm>
            <a:off x="1988820" y="2510790"/>
            <a:ext cx="7724775" cy="41675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922020" y="84455"/>
            <a:ext cx="10347960" cy="8248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en-US" sz="3200">
                <a:sym typeface="+mn-ea"/>
              </a:rPr>
              <a:t>Data interpolation in </a:t>
            </a:r>
            <a:r>
              <a:rPr lang="en-US" sz="3200">
                <a:sym typeface="+mn-ea"/>
              </a:rPr>
              <a:t>Variational Autoencoder:</a:t>
            </a:r>
            <a:endParaRPr lang="en-US" sz="3200">
              <a:sym typeface="+mn-ea"/>
            </a:endParaRPr>
          </a:p>
        </p:txBody>
      </p:sp>
      <p:pic>
        <p:nvPicPr>
          <p:cNvPr id="10" name="Picture 9"/>
          <p:cNvPicPr/>
          <p:nvPr/>
        </p:nvPicPr>
        <p:blipFill>
          <a:blip r:embed="rId1"/>
          <a:stretch>
            <a:fillRect/>
          </a:stretch>
        </p:blipFill>
        <p:spPr>
          <a:xfrm>
            <a:off x="262255" y="2264410"/>
            <a:ext cx="11036300" cy="1257300"/>
          </a:xfrm>
          <a:prstGeom prst="rect">
            <a:avLst/>
          </a:prstGeom>
        </p:spPr>
      </p:pic>
      <p:pic>
        <p:nvPicPr>
          <p:cNvPr id="11" name="Picture 10"/>
          <p:cNvPicPr/>
          <p:nvPr/>
        </p:nvPicPr>
        <p:blipFill>
          <a:blip r:embed="rId2"/>
          <a:stretch>
            <a:fillRect/>
          </a:stretch>
        </p:blipFill>
        <p:spPr>
          <a:xfrm>
            <a:off x="607695" y="3866515"/>
            <a:ext cx="10976610" cy="985520"/>
          </a:xfrm>
          <a:prstGeom prst="rect">
            <a:avLst/>
          </a:prstGeom>
        </p:spPr>
      </p:pic>
      <p:sp>
        <p:nvSpPr>
          <p:cNvPr id="13" name="Text Box 12"/>
          <p:cNvSpPr txBox="1"/>
          <p:nvPr/>
        </p:nvSpPr>
        <p:spPr>
          <a:xfrm>
            <a:off x="607695" y="1052195"/>
            <a:ext cx="10662285" cy="1198880"/>
          </a:xfrm>
          <a:prstGeom prst="rect">
            <a:avLst/>
          </a:prstGeom>
          <a:noFill/>
        </p:spPr>
        <p:txBody>
          <a:bodyPr wrap="square" rtlCol="0">
            <a:spAutoFit/>
          </a:bodyPr>
          <a:p>
            <a:r>
              <a:rPr lang="en-US" b="1"/>
              <a:t>Facial Expression and Hair Color:</a:t>
            </a:r>
            <a:r>
              <a:rPr lang="en-US"/>
              <a:t> </a:t>
            </a:r>
            <a:r>
              <a:rPr lang="en-US" altLang="en-US">
                <a:sym typeface="+mn-ea"/>
              </a:rPr>
              <a:t>Now we use linear interpolation to, for example, transition hair color to blond as follows. We take the difference ∆ of the center of the set of faces in our training set with blond hair and that of faces without blond hair. Then we add multiples of ∆ with increasing length to a face to gradually change its hair color to blond.</a:t>
            </a:r>
            <a:endParaRPr lang="en-US"/>
          </a:p>
        </p:txBody>
      </p:sp>
      <p:sp>
        <p:nvSpPr>
          <p:cNvPr id="15" name="Text Box 14"/>
          <p:cNvSpPr txBox="1"/>
          <p:nvPr/>
        </p:nvSpPr>
        <p:spPr>
          <a:xfrm>
            <a:off x="678180" y="3429000"/>
            <a:ext cx="8768080" cy="437515"/>
          </a:xfrm>
          <a:prstGeom prst="rect">
            <a:avLst/>
          </a:prstGeom>
          <a:noFill/>
        </p:spPr>
        <p:txBody>
          <a:bodyPr wrap="square" rtlCol="0">
            <a:noAutofit/>
          </a:bodyPr>
          <a:p>
            <a:r>
              <a:rPr lang="en-US" altLang="en-US"/>
              <a:t>Using the same approach, we can also gradually add sunglasses to a face</a:t>
            </a:r>
            <a:endParaRPr lang="en-US" altLang="en-US"/>
          </a:p>
        </p:txBody>
      </p:sp>
      <p:sp>
        <p:nvSpPr>
          <p:cNvPr id="16" name="Text Box 15"/>
          <p:cNvSpPr txBox="1"/>
          <p:nvPr/>
        </p:nvSpPr>
        <p:spPr>
          <a:xfrm>
            <a:off x="752475" y="4876800"/>
            <a:ext cx="8799195" cy="440690"/>
          </a:xfrm>
          <a:prstGeom prst="rect">
            <a:avLst/>
          </a:prstGeom>
          <a:noFill/>
        </p:spPr>
        <p:txBody>
          <a:bodyPr wrap="square" rtlCol="0">
            <a:noAutofit/>
          </a:bodyPr>
          <a:p>
            <a:r>
              <a:rPr lang="en-US" altLang="en-US"/>
              <a:t>we can gradually add sunglasses and change hair color at the same time</a:t>
            </a:r>
            <a:endParaRPr lang="en-US" altLang="en-US"/>
          </a:p>
        </p:txBody>
      </p:sp>
      <p:pic>
        <p:nvPicPr>
          <p:cNvPr id="17" name="Picture 16"/>
          <p:cNvPicPr>
            <a:picLocks noChangeAspect="1"/>
          </p:cNvPicPr>
          <p:nvPr/>
        </p:nvPicPr>
        <p:blipFill>
          <a:blip r:embed="rId3"/>
          <a:stretch>
            <a:fillRect/>
          </a:stretch>
        </p:blipFill>
        <p:spPr>
          <a:xfrm>
            <a:off x="752475" y="5342255"/>
            <a:ext cx="8355330" cy="15030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6146</Words>
  <Application>WPS Presentation</Application>
  <PresentationFormat>Widescreen</PresentationFormat>
  <Paragraphs>97</Paragraphs>
  <Slides>10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Arial</vt:lpstr>
      <vt:lpstr>SimSun</vt:lpstr>
      <vt:lpstr>Wingdings</vt:lpstr>
      <vt:lpstr>Calibri Light</vt:lpstr>
      <vt:lpstr>Calibri</vt:lpstr>
      <vt:lpstr>Microsoft YaHei</vt:lpstr>
      <vt:lpstr>Arial Unicode MS</vt:lpstr>
      <vt:lpstr>Office Theme</vt:lpstr>
      <vt:lpstr>Auto Encoders  in AI(Deep Learning)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 ENCODERS IN DEEP LEARNING </dc:title>
  <dc:creator>user</dc:creator>
  <cp:lastModifiedBy>Sreeni Jilla</cp:lastModifiedBy>
  <cp:revision>6</cp:revision>
  <dcterms:created xsi:type="dcterms:W3CDTF">2023-11-07T17:06:00Z</dcterms:created>
  <dcterms:modified xsi:type="dcterms:W3CDTF">2026-05-08T02:23:01Z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4F01FA1F79004B72AB98A8B665BF45F1_11</vt:lpwstr>
  </property>
  <property fmtid="{D5CDD505-2E9C-101B-9397-08002B2CF9AE}" pid="3" name="KSOProductBuildVer">
    <vt:lpwstr>1033-12.1.0.25862</vt:lpwstr>
  </property>
</Properties>
</file>