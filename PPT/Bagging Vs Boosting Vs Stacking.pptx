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748C4BF-38AE-4F7C-830D-E641F2FACD23}"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739183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48C4BF-38AE-4F7C-830D-E641F2FACD23}"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1798379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48C4BF-38AE-4F7C-830D-E641F2FACD23}"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727317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748C4BF-38AE-4F7C-830D-E641F2FACD23}"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192134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748C4BF-38AE-4F7C-830D-E641F2FACD23}" type="datetimeFigureOut">
              <a:rPr lang="en-IN" smtClean="0"/>
              <a:t>26-04-2020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1575524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748C4BF-38AE-4F7C-830D-E641F2FACD23}" type="datetimeFigureOut">
              <a:rPr lang="en-IN" smtClean="0"/>
              <a:t>26-04-2020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3008333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48C4BF-38AE-4F7C-830D-E641F2FACD23}" type="datetimeFigureOut">
              <a:rPr lang="en-IN" smtClean="0"/>
              <a:t>26-04-2020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133491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48C4BF-38AE-4F7C-830D-E641F2FACD23}"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3497947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48C4BF-38AE-4F7C-830D-E641F2FACD23}"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4093507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48C4BF-38AE-4F7C-830D-E641F2FACD23}"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2857702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48C4BF-38AE-4F7C-830D-E641F2FACD23}"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E8A1E9-3708-4E52-A34D-68C3E31E3807}" type="slidenum">
              <a:rPr lang="en-IN" smtClean="0"/>
              <a:t>‹#›</a:t>
            </a:fld>
            <a:endParaRPr lang="en-IN"/>
          </a:p>
        </p:txBody>
      </p:sp>
    </p:spTree>
    <p:extLst>
      <p:ext uri="{BB962C8B-B14F-4D97-AF65-F5344CB8AC3E}">
        <p14:creationId xmlns:p14="http://schemas.microsoft.com/office/powerpoint/2010/main" val="285521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48C4BF-38AE-4F7C-830D-E641F2FACD23}" type="datetimeFigureOut">
              <a:rPr lang="en-IN" smtClean="0"/>
              <a:t>26-04-2020</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E8A1E9-3708-4E52-A34D-68C3E31E3807}" type="slidenum">
              <a:rPr lang="en-IN" smtClean="0"/>
              <a:t>‹#›</a:t>
            </a:fld>
            <a:endParaRPr lang="en-IN"/>
          </a:p>
        </p:txBody>
      </p:sp>
    </p:spTree>
    <p:extLst>
      <p:ext uri="{BB962C8B-B14F-4D97-AF65-F5344CB8AC3E}">
        <p14:creationId xmlns:p14="http://schemas.microsoft.com/office/powerpoint/2010/main" val="3092259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Combinations" TargetMode="External"/><Relationship Id="rId2" Type="http://schemas.openxmlformats.org/officeDocument/2006/relationships/hyperlink" Target="http://en.wikipedia.org/wiki/Bootstrap_aggregating" TargetMode="External"/><Relationship Id="rId1" Type="http://schemas.openxmlformats.org/officeDocument/2006/relationships/slideLayout" Target="../slideLayouts/slideLayout2.xml"/><Relationship Id="rId4" Type="http://schemas.openxmlformats.org/officeDocument/2006/relationships/hyperlink" Target="http://en.wikipedia.org/wiki/Multiset"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www.cs.princeton.edu/courses/archive/spr08/cos424/readings/Schapire2003.pdf" TargetMode="External"/><Relationship Id="rId2" Type="http://schemas.openxmlformats.org/officeDocument/2006/relationships/hyperlink" Target="http://en.wikipedia.org/wiki/Boosting_(machine_learn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en.wikipedia.org/wiki/Ensemble_learning#Stack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fontAlgn="base"/>
            <a:br>
              <a:rPr lang="en-IN" dirty="0"/>
            </a:br>
            <a:r>
              <a:rPr lang="en-IN" dirty="0"/>
              <a:t>What are the similarities and differences between</a:t>
            </a:r>
            <a:br>
              <a:rPr lang="en-IN" dirty="0"/>
            </a:br>
            <a:br>
              <a:rPr lang="en-IN" dirty="0"/>
            </a:br>
            <a:r>
              <a:rPr lang="en-IN" dirty="0"/>
              <a:t>Bagging,</a:t>
            </a:r>
            <a:br>
              <a:rPr lang="en-IN" dirty="0"/>
            </a:br>
            <a:r>
              <a:rPr lang="en-IN" dirty="0"/>
              <a:t>Boosting,</a:t>
            </a:r>
            <a:br>
              <a:rPr lang="en-IN" dirty="0"/>
            </a:br>
            <a:r>
              <a:rPr lang="en-IN" dirty="0"/>
              <a:t>Voting(Hard/Soft)</a:t>
            </a:r>
            <a:br>
              <a:rPr lang="en-IN" dirty="0"/>
            </a:br>
            <a:r>
              <a:rPr lang="en-IN" dirty="0"/>
              <a:t>Stacking?</a:t>
            </a:r>
            <a:br>
              <a:rPr lang="en-IN" dirty="0"/>
            </a:br>
            <a:br>
              <a:rPr lang="en-IN" dirty="0"/>
            </a:br>
            <a:r>
              <a:rPr lang="en-IN" dirty="0"/>
              <a:t>Which is the best one? And why?</a:t>
            </a:r>
            <a:br>
              <a:rPr lang="en-IN" dirty="0"/>
            </a:b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24218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All three are so-called "meta-algorithms": approaches to combine several machine learning techniques into one predictive model in order to decrease the variance (</a:t>
            </a:r>
            <a:r>
              <a:rPr lang="en-IN" i="1" dirty="0"/>
              <a:t>bagging</a:t>
            </a:r>
            <a:r>
              <a:rPr lang="en-IN" dirty="0"/>
              <a:t>), bias (</a:t>
            </a:r>
            <a:r>
              <a:rPr lang="en-IN" i="1" dirty="0"/>
              <a:t>boosting</a:t>
            </a:r>
            <a:r>
              <a:rPr lang="en-IN" dirty="0"/>
              <a:t>) or improving the predictive force (Voting/</a:t>
            </a:r>
            <a:r>
              <a:rPr lang="en-IN" i="1" dirty="0"/>
              <a:t>stacking</a:t>
            </a:r>
            <a:r>
              <a:rPr lang="en-IN" dirty="0"/>
              <a:t>).</a:t>
            </a:r>
          </a:p>
        </p:txBody>
      </p:sp>
    </p:spTree>
    <p:extLst>
      <p:ext uri="{BB962C8B-B14F-4D97-AF65-F5344CB8AC3E}">
        <p14:creationId xmlns:p14="http://schemas.microsoft.com/office/powerpoint/2010/main" val="1177825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dirty="0"/>
              <a:t>Every algorithm consists of two steps:</a:t>
            </a:r>
          </a:p>
          <a:p>
            <a:pPr fontAlgn="base"/>
            <a:r>
              <a:rPr lang="en-IN" dirty="0"/>
              <a:t>Producing a distribution of simple ML models on subsets of the original data.</a:t>
            </a:r>
          </a:p>
          <a:p>
            <a:pPr fontAlgn="base"/>
            <a:r>
              <a:rPr lang="en-IN" dirty="0"/>
              <a:t>Combining the distribution into one "aggregated" model.</a:t>
            </a:r>
          </a:p>
          <a:p>
            <a:endParaRPr lang="en-IN" dirty="0"/>
          </a:p>
        </p:txBody>
      </p:sp>
    </p:spTree>
    <p:extLst>
      <p:ext uri="{BB962C8B-B14F-4D97-AF65-F5344CB8AC3E}">
        <p14:creationId xmlns:p14="http://schemas.microsoft.com/office/powerpoint/2010/main" val="1099879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10000"/>
          </a:bodyPr>
          <a:lstStyle/>
          <a:p>
            <a:pPr fontAlgn="base"/>
            <a:r>
              <a:rPr lang="en-IN" b="1" dirty="0">
                <a:hlinkClick r:id="rId2"/>
              </a:rPr>
              <a:t>Bagging</a:t>
            </a:r>
            <a:r>
              <a:rPr lang="en-IN" dirty="0"/>
              <a:t> (stands for </a:t>
            </a:r>
            <a:r>
              <a:rPr lang="en-IN" b="1" dirty="0"/>
              <a:t>B</a:t>
            </a:r>
            <a:r>
              <a:rPr lang="en-IN" dirty="0"/>
              <a:t>ootstrap </a:t>
            </a:r>
            <a:r>
              <a:rPr lang="en-IN" b="1" dirty="0"/>
              <a:t>Agg</a:t>
            </a:r>
            <a:r>
              <a:rPr lang="en-IN" dirty="0"/>
              <a:t>regat</a:t>
            </a:r>
            <a:r>
              <a:rPr lang="en-IN" b="1" dirty="0"/>
              <a:t>ing</a:t>
            </a:r>
            <a:r>
              <a:rPr lang="en-IN" dirty="0"/>
              <a:t>) is a </a:t>
            </a:r>
            <a:r>
              <a:rPr lang="en-IN" b="1" dirty="0"/>
              <a:t>way to decrease the variance </a:t>
            </a:r>
            <a:r>
              <a:rPr lang="en-IN" dirty="0"/>
              <a:t>of your prediction by generating additional data for training from your original dataset using </a:t>
            </a:r>
            <a:r>
              <a:rPr lang="en-IN" dirty="0">
                <a:hlinkClick r:id="rId3"/>
              </a:rPr>
              <a:t>combinations with repetitions</a:t>
            </a:r>
            <a:r>
              <a:rPr lang="en-IN" dirty="0"/>
              <a:t> to produce </a:t>
            </a:r>
            <a:r>
              <a:rPr lang="en-IN" dirty="0">
                <a:hlinkClick r:id="rId4"/>
              </a:rPr>
              <a:t>multisets</a:t>
            </a:r>
            <a:r>
              <a:rPr lang="en-IN" dirty="0"/>
              <a:t> of the same cardinality/size as your original data. By increasing the size of your training set you can't improve the model predictive force, but just decrease the variance, narrowly tuning the prediction to expected outcome.</a:t>
            </a:r>
          </a:p>
          <a:p>
            <a:endParaRPr lang="en-IN" dirty="0"/>
          </a:p>
        </p:txBody>
      </p:sp>
    </p:spTree>
    <p:extLst>
      <p:ext uri="{BB962C8B-B14F-4D97-AF65-F5344CB8AC3E}">
        <p14:creationId xmlns:p14="http://schemas.microsoft.com/office/powerpoint/2010/main" val="745035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IN" b="1" dirty="0">
                <a:hlinkClick r:id="rId2"/>
              </a:rPr>
              <a:t>Boosting</a:t>
            </a:r>
            <a:r>
              <a:rPr lang="en-IN" dirty="0"/>
              <a:t> is a two-step approach, where one first uses subsets of the original data to produce a series of averagely performing models and then "boosts" their performance by combining them together using a particular cost function (=majority vote). Unlike bagging, in the </a:t>
            </a:r>
            <a:r>
              <a:rPr lang="en-IN" dirty="0">
                <a:hlinkClick r:id="rId3"/>
              </a:rPr>
              <a:t>classical boosting</a:t>
            </a:r>
            <a:r>
              <a:rPr lang="en-IN" dirty="0"/>
              <a:t> the subset creation is not random and depends upon the performance of the previous models: every new subsets contains the elements that were (likely to be) misclassified by previous models.</a:t>
            </a:r>
          </a:p>
          <a:p>
            <a:endParaRPr lang="en-IN" dirty="0"/>
          </a:p>
          <a:p>
            <a:pPr fontAlgn="base"/>
            <a:r>
              <a:rPr lang="en-IN" dirty="0"/>
              <a:t> Usually there is a trade-off between bias and variance. A model with low bias generally have a high variance</a:t>
            </a:r>
          </a:p>
          <a:p>
            <a:pPr fontAlgn="base"/>
            <a:r>
              <a:rPr lang="en-IN" dirty="0"/>
              <a:t>Boosting’s objective is to increase the complexity of models that suffer from high bias especially in the case of under fitting. In simple words, boosting tries to reduce the error in predictions and </a:t>
            </a:r>
            <a:r>
              <a:rPr lang="en-IN" b="1" dirty="0"/>
              <a:t>hence Boosting reduces bias.</a:t>
            </a:r>
          </a:p>
          <a:p>
            <a:endParaRPr lang="en-IN" dirty="0"/>
          </a:p>
        </p:txBody>
      </p:sp>
    </p:spTree>
    <p:extLst>
      <p:ext uri="{BB962C8B-B14F-4D97-AF65-F5344CB8AC3E}">
        <p14:creationId xmlns:p14="http://schemas.microsoft.com/office/powerpoint/2010/main" val="3017065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b="1" dirty="0">
                <a:hlinkClick r:id="rId2"/>
              </a:rPr>
              <a:t>Stacking</a:t>
            </a:r>
            <a:r>
              <a:rPr lang="en-IN"/>
              <a:t> You </a:t>
            </a:r>
            <a:r>
              <a:rPr lang="en-IN" dirty="0"/>
              <a:t>also apply several models to your original data. The difference here is, however, that you don't have just an empirical formula for your weight function, rather you introduce a meta-level and use another model/approach to estimate the input together with outputs of every model to estimate the weights or, in other words, to determine what models perform well and what badly given these input data.</a:t>
            </a:r>
          </a:p>
        </p:txBody>
      </p:sp>
    </p:spTree>
    <p:extLst>
      <p:ext uri="{BB962C8B-B14F-4D97-AF65-F5344CB8AC3E}">
        <p14:creationId xmlns:p14="http://schemas.microsoft.com/office/powerpoint/2010/main" val="2587002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Comparison Table</a:t>
            </a:r>
          </a:p>
        </p:txBody>
      </p:sp>
      <p:pic>
        <p:nvPicPr>
          <p:cNvPr id="1026" name="Picture 2" descr="Comparative tab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9020" y="2681916"/>
            <a:ext cx="8125960" cy="2362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0918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As you see, these all are different approaches to combine several models into a better one, and there is no single winner here: everything depends upon your domain and what you're going to do. You can still treat </a:t>
            </a:r>
            <a:r>
              <a:rPr lang="en-IN" i="1" dirty="0"/>
              <a:t>stacking</a:t>
            </a:r>
            <a:r>
              <a:rPr lang="en-IN" dirty="0"/>
              <a:t> as a sort of more advances </a:t>
            </a:r>
            <a:r>
              <a:rPr lang="en-IN" i="1" dirty="0"/>
              <a:t>boosting</a:t>
            </a:r>
            <a:r>
              <a:rPr lang="en-IN" dirty="0"/>
              <a:t>, however, the difficulty of finding a good approach for your meta-level makes it difficult to apply this approach in practice.</a:t>
            </a:r>
          </a:p>
        </p:txBody>
      </p:sp>
    </p:spTree>
    <p:extLst>
      <p:ext uri="{BB962C8B-B14F-4D97-AF65-F5344CB8AC3E}">
        <p14:creationId xmlns:p14="http://schemas.microsoft.com/office/powerpoint/2010/main" val="1011054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1633</TotalTime>
  <Words>480</Words>
  <Application>Microsoft Office PowerPoint</Application>
  <PresentationFormat>On-screen Show (4:3)</PresentationFormat>
  <Paragraphs>13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 What are the similarities and differences between  Bagging, Boosting, Voting(Hard/Soft) Stacking?  Which is the best one? And why? </vt:lpstr>
      <vt:lpstr>PowerPoint Presentation</vt:lpstr>
      <vt:lpstr>PowerPoint Presentation</vt:lpstr>
      <vt:lpstr>PowerPoint Presentation</vt:lpstr>
      <vt:lpstr>PowerPoint Presentation</vt:lpstr>
      <vt:lpstr>PowerPoint Presentation</vt:lpstr>
      <vt:lpstr>Comparison Table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What's the similarities and differences between  Bagging, Boosting, Stacking?  Which is the best one? And why? </dc:title>
  <dc:creator>Sreenivas</dc:creator>
  <cp:lastModifiedBy>Sreenivas Jilla</cp:lastModifiedBy>
  <cp:revision>10</cp:revision>
  <dcterms:created xsi:type="dcterms:W3CDTF">2018-08-08T14:05:16Z</dcterms:created>
  <dcterms:modified xsi:type="dcterms:W3CDTF">2020-04-27T03:45:42Z</dcterms:modified>
</cp:coreProperties>
</file>