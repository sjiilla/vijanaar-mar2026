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1272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13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26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17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24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403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36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25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81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52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930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18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161B4-E51C-4ED5-9E7F-6EEC7A34F93C}" type="datetimeFigureOut">
              <a:rPr lang="en-IN" smtClean="0"/>
              <a:t>24-01-2019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FA1E2-CC40-47D7-A228-A4B7061CF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65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Confusion Matrix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84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736" y="2682021"/>
            <a:ext cx="4432528" cy="2362321"/>
          </a:xfrm>
        </p:spPr>
      </p:pic>
    </p:spTree>
    <p:extLst>
      <p:ext uri="{BB962C8B-B14F-4D97-AF65-F5344CB8AC3E}">
        <p14:creationId xmlns:p14="http://schemas.microsoft.com/office/powerpoint/2010/main" val="229619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2234406"/>
            <a:ext cx="7962900" cy="3257550"/>
          </a:xfrm>
        </p:spPr>
      </p:pic>
    </p:spTree>
    <p:extLst>
      <p:ext uri="{BB962C8B-B14F-4D97-AF65-F5344CB8AC3E}">
        <p14:creationId xmlns:p14="http://schemas.microsoft.com/office/powerpoint/2010/main" val="112631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true positives (TP):</a:t>
            </a:r>
            <a:r>
              <a:rPr lang="en-IN" dirty="0"/>
              <a:t> These are cases in which we predicted yes (they have the disease), and they do have the disease.</a:t>
            </a:r>
          </a:p>
          <a:p>
            <a:r>
              <a:rPr lang="en-IN" b="1" dirty="0"/>
              <a:t>true negatives (TN):</a:t>
            </a:r>
            <a:r>
              <a:rPr lang="en-IN" dirty="0"/>
              <a:t> We predicted no, and they don't have the disease.</a:t>
            </a:r>
          </a:p>
          <a:p>
            <a:r>
              <a:rPr lang="en-IN" b="1" dirty="0"/>
              <a:t>false positives (FP):</a:t>
            </a:r>
            <a:r>
              <a:rPr lang="en-IN" dirty="0"/>
              <a:t> We predicted yes, but they don't actually have the disease. (Also known as a "Type I error.")</a:t>
            </a:r>
          </a:p>
          <a:p>
            <a:r>
              <a:rPr lang="en-IN" b="1" dirty="0"/>
              <a:t>false negatives (FN):</a:t>
            </a:r>
            <a:r>
              <a:rPr lang="en-IN" dirty="0"/>
              <a:t> We predicted no, but they actually do have the disease. (Also known as a "Type II error.")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85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This is a list of rates that are often computed from a confusion matrix for a binary classifier:</a:t>
            </a:r>
          </a:p>
          <a:p>
            <a:r>
              <a:rPr lang="en-IN" b="1" dirty="0"/>
              <a:t>Accuracy:</a:t>
            </a:r>
            <a:r>
              <a:rPr lang="en-IN" dirty="0"/>
              <a:t> Overall, how often is the classifier correct?</a:t>
            </a:r>
          </a:p>
          <a:p>
            <a:pPr lvl="1"/>
            <a:r>
              <a:rPr lang="en-IN" dirty="0"/>
              <a:t>(TP+TN)/total = (100+50)/165 = 0.91</a:t>
            </a:r>
          </a:p>
          <a:p>
            <a:r>
              <a:rPr lang="en-IN" b="1" dirty="0"/>
              <a:t>Misclassification Rate:</a:t>
            </a:r>
            <a:r>
              <a:rPr lang="en-IN" dirty="0"/>
              <a:t> Overall, how often is it wrong?</a:t>
            </a:r>
          </a:p>
          <a:p>
            <a:pPr lvl="1"/>
            <a:r>
              <a:rPr lang="en-IN" dirty="0"/>
              <a:t>(FP+FN)/total = (10+5)/165 = 0.09</a:t>
            </a:r>
          </a:p>
          <a:p>
            <a:pPr lvl="1"/>
            <a:r>
              <a:rPr lang="en-IN" dirty="0"/>
              <a:t>equivalent to 1 minus Accuracy</a:t>
            </a:r>
          </a:p>
          <a:p>
            <a:pPr lvl="1"/>
            <a:r>
              <a:rPr lang="en-IN" dirty="0"/>
              <a:t>also known as "Error Rate"</a:t>
            </a:r>
          </a:p>
          <a:p>
            <a:r>
              <a:rPr lang="en-IN" b="1" dirty="0"/>
              <a:t>True Positive </a:t>
            </a:r>
            <a:r>
              <a:rPr lang="en-IN" b="1" dirty="0" smtClean="0"/>
              <a:t>Rate(</a:t>
            </a:r>
            <a:r>
              <a:rPr lang="en-IN" b="1" dirty="0" err="1" smtClean="0"/>
              <a:t>a.ka.a</a:t>
            </a:r>
            <a:r>
              <a:rPr lang="en-IN" b="1" dirty="0" smtClean="0"/>
              <a:t>. Sensitivity):</a:t>
            </a:r>
            <a:r>
              <a:rPr lang="en-IN" dirty="0"/>
              <a:t> When it's actually yes, how often does it predict yes?</a:t>
            </a:r>
          </a:p>
          <a:p>
            <a:pPr lvl="1"/>
            <a:r>
              <a:rPr lang="en-IN" dirty="0"/>
              <a:t>TP/actual yes = 100/105 = 0.95</a:t>
            </a:r>
          </a:p>
          <a:p>
            <a:pPr lvl="1"/>
            <a:r>
              <a:rPr lang="en-IN" b="1" dirty="0" smtClean="0"/>
              <a:t>also known as "Sensitivity" or "Recall“</a:t>
            </a:r>
          </a:p>
          <a:p>
            <a:r>
              <a:rPr lang="en-IN" b="1" dirty="0" smtClean="0"/>
              <a:t>True Negative Rate(</a:t>
            </a:r>
            <a:r>
              <a:rPr lang="en-IN" b="1" dirty="0" err="1" smtClean="0"/>
              <a:t>a.ka.a</a:t>
            </a:r>
            <a:r>
              <a:rPr lang="en-IN" b="1" dirty="0"/>
              <a:t>. Specificity</a:t>
            </a:r>
            <a:r>
              <a:rPr lang="en-IN" b="1" dirty="0" smtClean="0"/>
              <a:t>): :</a:t>
            </a:r>
            <a:r>
              <a:rPr lang="en-IN" dirty="0"/>
              <a:t> When it's actually no, how often does it predict no?</a:t>
            </a:r>
          </a:p>
          <a:p>
            <a:pPr lvl="1"/>
            <a:r>
              <a:rPr lang="en-IN" dirty="0"/>
              <a:t>TN/actual no = 50/60 = </a:t>
            </a:r>
            <a:r>
              <a:rPr lang="en-IN" dirty="0" smtClean="0"/>
              <a:t>0.83</a:t>
            </a:r>
          </a:p>
          <a:p>
            <a:r>
              <a:rPr lang="en-IN" b="1" smtClean="0"/>
              <a:t>False </a:t>
            </a:r>
            <a:r>
              <a:rPr lang="en-IN" b="1" dirty="0"/>
              <a:t>Positive Rate:</a:t>
            </a:r>
            <a:r>
              <a:rPr lang="en-IN" dirty="0"/>
              <a:t> When it's actually no, how often does it predict yes?</a:t>
            </a:r>
          </a:p>
          <a:p>
            <a:pPr lvl="1"/>
            <a:r>
              <a:rPr lang="en-IN" dirty="0"/>
              <a:t>FP/actual no = 10/60 = 0.17</a:t>
            </a:r>
          </a:p>
          <a:p>
            <a:pPr lvl="1"/>
            <a:r>
              <a:rPr lang="en-IN" dirty="0" smtClean="0"/>
              <a:t>equivalent </a:t>
            </a:r>
            <a:r>
              <a:rPr lang="en-IN" dirty="0"/>
              <a:t>to 1 minus False Positive Rate</a:t>
            </a:r>
          </a:p>
          <a:p>
            <a:r>
              <a:rPr lang="en-IN" b="1" dirty="0"/>
              <a:t>Precision:</a:t>
            </a:r>
            <a:r>
              <a:rPr lang="en-IN" dirty="0"/>
              <a:t> When it predicts yes, how often is it correct?</a:t>
            </a:r>
          </a:p>
          <a:p>
            <a:pPr lvl="1"/>
            <a:r>
              <a:rPr lang="en-IN" dirty="0"/>
              <a:t>TP/predicted yes = 100/110 = 0.91</a:t>
            </a:r>
          </a:p>
          <a:p>
            <a:r>
              <a:rPr lang="en-IN" b="1" dirty="0"/>
              <a:t>Prevalence:</a:t>
            </a:r>
            <a:r>
              <a:rPr lang="en-IN" dirty="0"/>
              <a:t> How often does the yes condition actually occur in our sample?</a:t>
            </a:r>
          </a:p>
          <a:p>
            <a:pPr lvl="1"/>
            <a:r>
              <a:rPr lang="en-IN" dirty="0"/>
              <a:t>actual yes/total = 105/165 = 0.64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88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841" y="1600200"/>
            <a:ext cx="6028318" cy="4525963"/>
          </a:xfrm>
        </p:spPr>
      </p:pic>
    </p:spTree>
    <p:extLst>
      <p:ext uri="{BB962C8B-B14F-4D97-AF65-F5344CB8AC3E}">
        <p14:creationId xmlns:p14="http://schemas.microsoft.com/office/powerpoint/2010/main" val="317284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28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Confusion Matrix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Confusion Matrix</dc:title>
  <dc:creator>Sreenivas</dc:creator>
  <cp:lastModifiedBy>Sreenivas</cp:lastModifiedBy>
  <cp:revision>9</cp:revision>
  <dcterms:created xsi:type="dcterms:W3CDTF">2018-09-02T18:14:47Z</dcterms:created>
  <dcterms:modified xsi:type="dcterms:W3CDTF">2019-01-25T03:59:06Z</dcterms:modified>
</cp:coreProperties>
</file>