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87" r:id="rId3"/>
    <p:sldId id="334" r:id="rId4"/>
    <p:sldId id="289" r:id="rId5"/>
    <p:sldId id="304" r:id="rId6"/>
    <p:sldId id="305" r:id="rId7"/>
    <p:sldId id="306" r:id="rId8"/>
    <p:sldId id="307" r:id="rId9"/>
    <p:sldId id="388" r:id="rId10"/>
    <p:sldId id="308" r:id="rId11"/>
    <p:sldId id="333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09" r:id="rId21"/>
    <p:sldId id="310" r:id="rId22"/>
    <p:sldId id="379" r:id="rId23"/>
    <p:sldId id="380" r:id="rId24"/>
    <p:sldId id="385" r:id="rId25"/>
    <p:sldId id="383" r:id="rId26"/>
    <p:sldId id="377" r:id="rId27"/>
    <p:sldId id="386" r:id="rId28"/>
    <p:sldId id="37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7" autoAdjust="0"/>
    <p:restoredTop sz="94660"/>
  </p:normalViewPr>
  <p:slideViewPr>
    <p:cSldViewPr>
      <p:cViewPr varScale="1">
        <p:scale>
          <a:sx n="69" d="100"/>
          <a:sy n="69" d="100"/>
        </p:scale>
        <p:origin x="-138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42CBE-10B4-41DA-93E2-AE83F31AB6E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6EB45-3DE3-4140-9799-F7E79303A8C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76EB45-3DE3-4140-9799-F7E79303A8C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E6558-752D-42FD-BDD9-324648603B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8C259-74F4-441B-B256-14AD525E9E0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web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Calculus: Limit, Derivative &amp; Partial Derivative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Why do we need calculus?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r>
              <a:rPr lang="en-US" dirty="0" smtClean="0"/>
              <a:t>To study rate of change(Physics context)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 solve optimization problems(Data science context)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647700"/>
            <a:ext cx="802005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819150"/>
            <a:ext cx="7267575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461963"/>
            <a:ext cx="8705850" cy="593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285750"/>
            <a:ext cx="8020050" cy="628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885825"/>
            <a:ext cx="8591550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Try to reach global minima where error is minimum</a:t>
            </a:r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981200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1009650"/>
            <a:ext cx="9096375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8318" y="2667000"/>
            <a:ext cx="8686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Limit helps us to find the slope of a tangent line at any point</a:t>
            </a:r>
            <a:endParaRPr lang="en-US" sz="4000" dirty="0"/>
          </a:p>
          <a:p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5591" y="228600"/>
            <a:ext cx="1714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Limit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8318" y="1524000"/>
            <a:ext cx="8686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Value of function when its variables are having specific value</a:t>
            </a:r>
            <a:endParaRPr lang="en-US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Value of function when its variables are approaching some value</a:t>
            </a:r>
            <a:endParaRPr lang="en-US" sz="4000" dirty="0"/>
          </a:p>
          <a:p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6255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Example1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1295400"/>
            <a:ext cx="6629401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4582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15591" y="228600"/>
            <a:ext cx="1714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Limit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728663"/>
            <a:ext cx="7896225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614363"/>
            <a:ext cx="7553325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305799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4" y="781050"/>
            <a:ext cx="8896350" cy="607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/>
          <p:nvPr/>
        </p:nvSpPr>
        <p:spPr>
          <a:xfrm>
            <a:off x="304800" y="0"/>
            <a:ext cx="822960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FF0000"/>
                </a:solidFill>
              </a:rPr>
              <a:t>Example2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690563"/>
            <a:ext cx="8963025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27" y="4114800"/>
            <a:ext cx="8486776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95600" y="304800"/>
            <a:ext cx="3848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</a:rPr>
              <a:t>Derivative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1728" y="1524000"/>
            <a:ext cx="84105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 smtClean="0"/>
              <a:t>Derivative of a function allows us to compute the slope/gradient of a function at any point on its curve.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762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Slope – 1 D Example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90600"/>
            <a:ext cx="88773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176337"/>
            <a:ext cx="56197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2564" y="762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Slope – 1 D Example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41" y="1445288"/>
            <a:ext cx="1019175" cy="52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119" y="2176462"/>
            <a:ext cx="6942427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95" y="1143000"/>
            <a:ext cx="88773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4191000" y="1905000"/>
            <a:ext cx="30480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42900" y="0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Slope/gradient in 2-dimensions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1800" y="12954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you find slope at this point?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136" y="0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Slope/gradient in 2-dimensions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838200"/>
            <a:ext cx="88773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V="1">
            <a:off x="4114800" y="1600200"/>
            <a:ext cx="27432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29300" y="960796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you find slope at this point?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20691" y="1981200"/>
            <a:ext cx="28678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solidFill>
                  <a:srgbClr val="00B050"/>
                </a:solidFill>
              </a:rPr>
              <a:t>Draw a tangent line along x direction by keeping y unchanged</a:t>
            </a:r>
            <a:endParaRPr lang="en-US" sz="2400" dirty="0" smtClean="0">
              <a:solidFill>
                <a:srgbClr val="00B050"/>
              </a:solidFill>
            </a:endParaRPr>
          </a:p>
          <a:p>
            <a:pPr algn="just"/>
            <a:endParaRPr lang="en-US" sz="2400" dirty="0">
              <a:solidFill>
                <a:srgbClr val="00B050"/>
              </a:solidFill>
            </a:endParaRPr>
          </a:p>
          <a:p>
            <a:pPr algn="just"/>
            <a:r>
              <a:rPr lang="en-US" sz="2400" dirty="0" smtClean="0">
                <a:solidFill>
                  <a:srgbClr val="00B050"/>
                </a:solidFill>
              </a:rPr>
              <a:t>Draw one more tangent line along y direction by keeping x unchanged.</a:t>
            </a:r>
            <a:endParaRPr lang="en-US" sz="2400" dirty="0" smtClean="0">
              <a:solidFill>
                <a:srgbClr val="00B050"/>
              </a:solidFill>
            </a:endParaRPr>
          </a:p>
          <a:p>
            <a:pPr algn="just"/>
            <a:endParaRPr lang="en-US" sz="2400" dirty="0">
              <a:solidFill>
                <a:srgbClr val="00B050"/>
              </a:solidFill>
            </a:endParaRPr>
          </a:p>
          <a:p>
            <a:pPr algn="just"/>
            <a:r>
              <a:rPr lang="en-US" sz="2400" dirty="0" smtClean="0">
                <a:solidFill>
                  <a:srgbClr val="00B050"/>
                </a:solidFill>
              </a:rPr>
              <a:t>Find slopes of each tangent line separately.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0"/>
            <a:ext cx="86868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Slope/gradient in 2-dimensions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8" y="897083"/>
            <a:ext cx="8735291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61809" y="4191000"/>
            <a:ext cx="28678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solidFill>
                  <a:srgbClr val="00B050"/>
                </a:solidFill>
              </a:rPr>
              <a:t>Partial derivatives allows us to compute slope of a curve at any point in multiple dimensions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Find the slope of function f(</a:t>
            </a:r>
            <a:r>
              <a:rPr lang="en-US" dirty="0" err="1" smtClean="0"/>
              <a:t>x,y</a:t>
            </a:r>
            <a:r>
              <a:rPr lang="en-US" dirty="0" smtClean="0"/>
              <a:t>) = x</a:t>
            </a:r>
            <a:r>
              <a:rPr lang="en-US" baseline="30000" dirty="0" smtClean="0"/>
              <a:t>2</a:t>
            </a:r>
            <a:r>
              <a:rPr lang="en-US" dirty="0" smtClean="0"/>
              <a:t> + y</a:t>
            </a:r>
            <a:r>
              <a:rPr lang="en-US" baseline="30000" dirty="0" smtClean="0"/>
              <a:t>2</a:t>
            </a:r>
            <a:r>
              <a:rPr lang="en-US" dirty="0" smtClean="0"/>
              <a:t> at (1,1) and (2,3) 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2564" y="762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Slope – 2 D Example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68362"/>
          </a:xfrm>
        </p:spPr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Slope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88392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WPS Presentation</Application>
  <PresentationFormat>On-screen Show (4:3)</PresentationFormat>
  <Paragraphs>58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Calculus: Limit, Derivative &amp; Partial Derivative</vt:lpstr>
      <vt:lpstr>Why do we need calculus?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Slope – 1 D Example</vt:lpstr>
      <vt:lpstr>Slope – 1 D Example</vt:lpstr>
      <vt:lpstr>Slope/gradient in 2-dimensions</vt:lpstr>
      <vt:lpstr>Slope/gradient in 2-dimensions</vt:lpstr>
      <vt:lpstr>Slope/gradient in 2-dimensions</vt:lpstr>
      <vt:lpstr>Slope – 2 D Example</vt:lpstr>
      <vt:lpstr>Slope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Thimma Reddy</dc:creator>
  <cp:lastModifiedBy>Sreeni Jilla</cp:lastModifiedBy>
  <cp:revision>175</cp:revision>
  <dcterms:created xsi:type="dcterms:W3CDTF">2016-01-07T16:47:00Z</dcterms:created>
  <dcterms:modified xsi:type="dcterms:W3CDTF">2026-05-19T19:06:15Z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EAE38521F3B948958AB1BD0C6B6DAFCD_12</vt:lpwstr>
  </property>
  <property fmtid="{D5CDD505-2E9C-101B-9397-08002B2CF9AE}" pid="3" name="KSOProductBuildVer">
    <vt:lpwstr>1033-12.1.0.26372</vt:lpwstr>
  </property>
</Properties>
</file>