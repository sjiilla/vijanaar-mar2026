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478" r:id="rId2"/>
    <p:sldId id="844" r:id="rId3"/>
    <p:sldId id="842" r:id="rId4"/>
    <p:sldId id="821" r:id="rId5"/>
    <p:sldId id="818" r:id="rId6"/>
    <p:sldId id="841" r:id="rId7"/>
    <p:sldId id="819" r:id="rId8"/>
    <p:sldId id="820" r:id="rId9"/>
    <p:sldId id="840" r:id="rId10"/>
    <p:sldId id="822" r:id="rId11"/>
    <p:sldId id="823" r:id="rId12"/>
    <p:sldId id="839" r:id="rId13"/>
    <p:sldId id="824" r:id="rId14"/>
    <p:sldId id="830" r:id="rId15"/>
    <p:sldId id="826" r:id="rId16"/>
    <p:sldId id="827" r:id="rId17"/>
    <p:sldId id="829" r:id="rId18"/>
    <p:sldId id="828" r:id="rId19"/>
    <p:sldId id="825" r:id="rId20"/>
    <p:sldId id="831" r:id="rId21"/>
    <p:sldId id="838" r:id="rId22"/>
    <p:sldId id="833" r:id="rId23"/>
    <p:sldId id="834" r:id="rId24"/>
    <p:sldId id="846" r:id="rId25"/>
    <p:sldId id="836" r:id="rId26"/>
    <p:sldId id="847" r:id="rId27"/>
    <p:sldId id="835" r:id="rId28"/>
    <p:sldId id="837" r:id="rId29"/>
    <p:sldId id="850" r:id="rId30"/>
    <p:sldId id="852" r:id="rId31"/>
    <p:sldId id="851" r:id="rId32"/>
    <p:sldId id="843" r:id="rId33"/>
    <p:sldId id="853" r:id="rId34"/>
    <p:sldId id="848"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1FBD3B5-6D7B-4902-9B65-F23D0CE508DE}">
          <p14:sldIdLst>
            <p14:sldId id="478"/>
            <p14:sldId id="844"/>
            <p14:sldId id="842"/>
            <p14:sldId id="821"/>
            <p14:sldId id="818"/>
            <p14:sldId id="841"/>
            <p14:sldId id="819"/>
            <p14:sldId id="820"/>
            <p14:sldId id="840"/>
            <p14:sldId id="822"/>
            <p14:sldId id="823"/>
            <p14:sldId id="839"/>
            <p14:sldId id="824"/>
            <p14:sldId id="830"/>
            <p14:sldId id="826"/>
            <p14:sldId id="827"/>
            <p14:sldId id="829"/>
            <p14:sldId id="828"/>
            <p14:sldId id="825"/>
            <p14:sldId id="831"/>
            <p14:sldId id="838"/>
            <p14:sldId id="833"/>
            <p14:sldId id="834"/>
            <p14:sldId id="846"/>
            <p14:sldId id="836"/>
            <p14:sldId id="847"/>
            <p14:sldId id="835"/>
            <p14:sldId id="837"/>
            <p14:sldId id="850"/>
            <p14:sldId id="852"/>
            <p14:sldId id="851"/>
            <p14:sldId id="843"/>
            <p14:sldId id="853"/>
            <p14:sldId id="84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55" autoAdjust="0"/>
    <p:restoredTop sz="99288" autoAdjust="0"/>
  </p:normalViewPr>
  <p:slideViewPr>
    <p:cSldViewPr>
      <p:cViewPr varScale="1">
        <p:scale>
          <a:sx n="82" d="100"/>
          <a:sy n="82" d="100"/>
        </p:scale>
        <p:origin x="1464"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10B90A-5F98-435A-B7AE-C35CC8CE4052}" type="datetimeFigureOut">
              <a:rPr lang="en-US" smtClean="0"/>
              <a:t>6/8/2026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14DCA8-D9EB-43FE-BB09-E1A74B187491}" type="slidenum">
              <a:rPr lang="en-US" smtClean="0"/>
              <a:t>‹#›</a:t>
            </a:fld>
            <a:endParaRPr lang="en-US"/>
          </a:p>
        </p:txBody>
      </p:sp>
    </p:spTree>
    <p:extLst>
      <p:ext uri="{BB962C8B-B14F-4D97-AF65-F5344CB8AC3E}">
        <p14:creationId xmlns:p14="http://schemas.microsoft.com/office/powerpoint/2010/main" val="2943696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CDDF4F-E009-4E35-89FA-93EB2EB46521}"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914613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CDDF4F-E009-4E35-89FA-93EB2EB46521}"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1698456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CDDF4F-E009-4E35-89FA-93EB2EB46521}"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3541407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CDDF4F-E009-4E35-89FA-93EB2EB46521}"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3202662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CDDF4F-E009-4E35-89FA-93EB2EB46521}"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2111659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CDDF4F-E009-4E35-89FA-93EB2EB46521}"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724448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CDDF4F-E009-4E35-89FA-93EB2EB46521}"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3939468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CDDF4F-E009-4E35-89FA-93EB2EB46521}"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1524791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CDDF4F-E009-4E35-89FA-93EB2EB46521}"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2089955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CDDF4F-E009-4E35-89FA-93EB2EB46521}"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1461142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CDDF4F-E009-4E35-89FA-93EB2EB46521}"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9F997-C14B-4438-B96C-F04ADF218CCE}" type="slidenum">
              <a:rPr lang="en-US" smtClean="0"/>
              <a:t>‹#›</a:t>
            </a:fld>
            <a:endParaRPr lang="en-US"/>
          </a:p>
        </p:txBody>
      </p:sp>
    </p:spTree>
    <p:extLst>
      <p:ext uri="{BB962C8B-B14F-4D97-AF65-F5344CB8AC3E}">
        <p14:creationId xmlns:p14="http://schemas.microsoft.com/office/powerpoint/2010/main" val="225603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CDDF4F-E009-4E35-89FA-93EB2EB46521}"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D9F997-C14B-4438-B96C-F04ADF218CCE}" type="slidenum">
              <a:rPr lang="en-US" smtClean="0"/>
              <a:t>‹#›</a:t>
            </a:fld>
            <a:endParaRPr lang="en-US"/>
          </a:p>
        </p:txBody>
      </p:sp>
    </p:spTree>
    <p:extLst>
      <p:ext uri="{BB962C8B-B14F-4D97-AF65-F5344CB8AC3E}">
        <p14:creationId xmlns:p14="http://schemas.microsoft.com/office/powerpoint/2010/main" val="611054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676400"/>
            <a:ext cx="8382000" cy="3505200"/>
          </a:xfrm>
        </p:spPr>
        <p:txBody>
          <a:bodyPr>
            <a:normAutofit/>
          </a:bodyPr>
          <a:lstStyle/>
          <a:p>
            <a:r>
              <a:rPr lang="en-US" sz="5400" dirty="0">
                <a:solidFill>
                  <a:srgbClr val="00B050"/>
                </a:solidFill>
              </a:rPr>
              <a:t>State-of-the-art Convolutional Neural Networks</a:t>
            </a:r>
          </a:p>
        </p:txBody>
      </p:sp>
    </p:spTree>
    <p:extLst>
      <p:ext uri="{BB962C8B-B14F-4D97-AF65-F5344CB8AC3E}">
        <p14:creationId xmlns:p14="http://schemas.microsoft.com/office/powerpoint/2010/main" val="406091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703866"/>
            <a:ext cx="4509031" cy="621244"/>
          </a:xfrm>
          <a:prstGeom prst="rect">
            <a:avLst/>
          </a:prstGeom>
        </p:spPr>
      </p:pic>
      <p:pic>
        <p:nvPicPr>
          <p:cNvPr id="5" name="Picture 4"/>
          <p:cNvPicPr>
            <a:picLocks noChangeAspect="1"/>
          </p:cNvPicPr>
          <p:nvPr/>
        </p:nvPicPr>
        <p:blipFill>
          <a:blip r:embed="rId3"/>
          <a:stretch>
            <a:fillRect/>
          </a:stretch>
        </p:blipFill>
        <p:spPr>
          <a:xfrm>
            <a:off x="-12353" y="3151666"/>
            <a:ext cx="4426622" cy="1065536"/>
          </a:xfrm>
          <a:prstGeom prst="rect">
            <a:avLst/>
          </a:prstGeom>
        </p:spPr>
      </p:pic>
      <p:pic>
        <p:nvPicPr>
          <p:cNvPr id="6" name="Picture 5"/>
          <p:cNvPicPr>
            <a:picLocks noChangeAspect="1"/>
          </p:cNvPicPr>
          <p:nvPr/>
        </p:nvPicPr>
        <p:blipFill>
          <a:blip r:embed="rId4"/>
          <a:stretch>
            <a:fillRect/>
          </a:stretch>
        </p:blipFill>
        <p:spPr>
          <a:xfrm>
            <a:off x="-12353" y="2313466"/>
            <a:ext cx="4426072" cy="1068857"/>
          </a:xfrm>
          <a:prstGeom prst="rect">
            <a:avLst/>
          </a:prstGeom>
        </p:spPr>
      </p:pic>
      <p:pic>
        <p:nvPicPr>
          <p:cNvPr id="7" name="Picture 6"/>
          <p:cNvPicPr>
            <a:picLocks noChangeAspect="1"/>
          </p:cNvPicPr>
          <p:nvPr/>
        </p:nvPicPr>
        <p:blipFill>
          <a:blip r:embed="rId5"/>
          <a:stretch>
            <a:fillRect/>
          </a:stretch>
        </p:blipFill>
        <p:spPr>
          <a:xfrm>
            <a:off x="-12354" y="3989866"/>
            <a:ext cx="4426071" cy="1009698"/>
          </a:xfrm>
          <a:prstGeom prst="rect">
            <a:avLst/>
          </a:prstGeom>
        </p:spPr>
      </p:pic>
      <p:sp>
        <p:nvSpPr>
          <p:cNvPr id="8" name="Rectangle 7"/>
          <p:cNvSpPr/>
          <p:nvPr/>
        </p:nvSpPr>
        <p:spPr>
          <a:xfrm>
            <a:off x="4582594" y="2036403"/>
            <a:ext cx="4565955" cy="3170088"/>
          </a:xfrm>
          <a:prstGeom prst="rect">
            <a:avLst/>
          </a:prstGeom>
        </p:spPr>
        <p:txBody>
          <a:bodyPr wrap="square" lIns="91430" tIns="45715" rIns="91430" bIns="45715">
            <a:spAutoFit/>
          </a:bodyPr>
          <a:lstStyle/>
          <a:p>
            <a:pPr marL="342865" indent="-342865" algn="just">
              <a:buFont typeface="Arial"/>
              <a:buChar char="•"/>
            </a:pPr>
            <a:r>
              <a:rPr lang="en-US" sz="2000" b="0" dirty="0">
                <a:latin typeface="+mn-lt"/>
              </a:rPr>
              <a:t>~14 million labeled images, 20k classes</a:t>
            </a:r>
          </a:p>
          <a:p>
            <a:pPr marL="342865" indent="-342865" algn="just">
              <a:buFont typeface="Arial"/>
              <a:buChar char="•"/>
            </a:pPr>
            <a:endParaRPr lang="en-US" sz="2000" b="0" dirty="0">
              <a:latin typeface="+mn-lt"/>
            </a:endParaRPr>
          </a:p>
          <a:p>
            <a:pPr marL="342865" indent="-342865" algn="just">
              <a:buFont typeface="Arial"/>
              <a:buChar char="•"/>
            </a:pPr>
            <a:r>
              <a:rPr lang="en-US" sz="2000" b="0" dirty="0">
                <a:latin typeface="+mn-lt"/>
              </a:rPr>
              <a:t>Images gathered from Internet</a:t>
            </a:r>
          </a:p>
          <a:p>
            <a:pPr marL="342865" indent="-342865" algn="just">
              <a:buFont typeface="Arial"/>
              <a:buChar char="•"/>
            </a:pPr>
            <a:endParaRPr lang="en-US" sz="2000" b="0" dirty="0">
              <a:latin typeface="+mn-lt"/>
            </a:endParaRPr>
          </a:p>
          <a:p>
            <a:pPr marL="342865" indent="-342865" algn="just">
              <a:buFont typeface="Arial"/>
              <a:buChar char="•"/>
            </a:pPr>
            <a:r>
              <a:rPr lang="en-US" sz="2000" b="0" dirty="0">
                <a:latin typeface="+mn-lt"/>
              </a:rPr>
              <a:t>Human labels via Amazon </a:t>
            </a:r>
            <a:r>
              <a:rPr lang="en-US" sz="2000" b="0" dirty="0" err="1">
                <a:latin typeface="+mn-lt"/>
              </a:rPr>
              <a:t>MTurk</a:t>
            </a:r>
            <a:r>
              <a:rPr lang="en-US" sz="2000" b="0" dirty="0">
                <a:latin typeface="+mn-lt"/>
              </a:rPr>
              <a:t> </a:t>
            </a:r>
          </a:p>
          <a:p>
            <a:pPr marL="342865" indent="-342865" algn="just">
              <a:buFont typeface="Arial"/>
              <a:buChar char="•"/>
            </a:pPr>
            <a:endParaRPr lang="en-US" sz="2000" b="0" dirty="0">
              <a:latin typeface="+mn-lt"/>
            </a:endParaRPr>
          </a:p>
          <a:p>
            <a:pPr marL="342865" indent="-342865" algn="just">
              <a:buFont typeface="Arial"/>
              <a:buChar char="•"/>
            </a:pPr>
            <a:r>
              <a:rPr lang="en-US" sz="2000" b="0" dirty="0" err="1">
                <a:latin typeface="+mn-lt"/>
              </a:rPr>
              <a:t>ImageNet</a:t>
            </a:r>
            <a:r>
              <a:rPr lang="en-US" sz="2000" b="0" dirty="0">
                <a:latin typeface="+mn-lt"/>
              </a:rPr>
              <a:t> Large-Scale Visual Recognition Challenge (ILSVRC): </a:t>
            </a:r>
            <a:br>
              <a:rPr lang="en-US" sz="2000" b="0" dirty="0">
                <a:latin typeface="+mn-lt"/>
              </a:rPr>
            </a:br>
            <a:r>
              <a:rPr lang="en-US" sz="2000" b="0" dirty="0">
                <a:latin typeface="+mn-lt"/>
              </a:rPr>
              <a:t>1.2 million training images, 1000 classes</a:t>
            </a:r>
          </a:p>
        </p:txBody>
      </p:sp>
    </p:spTree>
    <p:extLst>
      <p:ext uri="{BB962C8B-B14F-4D97-AF65-F5344CB8AC3E}">
        <p14:creationId xmlns:p14="http://schemas.microsoft.com/office/powerpoint/2010/main" val="1568626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667000"/>
            <a:ext cx="8229600" cy="1143000"/>
          </a:xfrm>
        </p:spPr>
        <p:txBody>
          <a:bodyPr/>
          <a:lstStyle/>
          <a:p>
            <a:r>
              <a:rPr lang="en-US" dirty="0" err="1">
                <a:solidFill>
                  <a:srgbClr val="92D050"/>
                </a:solidFill>
              </a:rPr>
              <a:t>AlexNet</a:t>
            </a:r>
            <a:endParaRPr lang="en-US" dirty="0">
              <a:solidFill>
                <a:srgbClr val="92D050"/>
              </a:solidFill>
            </a:endParaRPr>
          </a:p>
        </p:txBody>
      </p:sp>
    </p:spTree>
    <p:extLst>
      <p:ext uri="{BB962C8B-B14F-4D97-AF65-F5344CB8AC3E}">
        <p14:creationId xmlns:p14="http://schemas.microsoft.com/office/powerpoint/2010/main" val="1730104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err="1">
                <a:solidFill>
                  <a:srgbClr val="92D050"/>
                </a:solidFill>
              </a:rPr>
              <a:t>Alexnet</a:t>
            </a:r>
            <a:r>
              <a:rPr lang="en-US" dirty="0">
                <a:solidFill>
                  <a:srgbClr val="92D050"/>
                </a:solidFill>
              </a:rPr>
              <a:t> – ILSVRC 2012 winner</a:t>
            </a:r>
          </a:p>
        </p:txBody>
      </p:sp>
      <p:pic>
        <p:nvPicPr>
          <p:cNvPr id="7" name="Picture 6"/>
          <p:cNvPicPr>
            <a:picLocks noChangeAspect="1"/>
          </p:cNvPicPr>
          <p:nvPr/>
        </p:nvPicPr>
        <p:blipFill rotWithShape="1">
          <a:blip r:embed="rId2"/>
          <a:srcRect t="7061" b="34445"/>
          <a:stretch/>
        </p:blipFill>
        <p:spPr>
          <a:xfrm>
            <a:off x="17250" y="1950493"/>
            <a:ext cx="9144000" cy="2671486"/>
          </a:xfrm>
          <a:prstGeom prst="rect">
            <a:avLst/>
          </a:prstGeom>
        </p:spPr>
      </p:pic>
      <p:sp>
        <p:nvSpPr>
          <p:cNvPr id="5" name="Rectangle 4"/>
          <p:cNvSpPr/>
          <p:nvPr/>
        </p:nvSpPr>
        <p:spPr>
          <a:xfrm>
            <a:off x="304800" y="4795897"/>
            <a:ext cx="8534400" cy="2062103"/>
          </a:xfrm>
          <a:prstGeom prst="rect">
            <a:avLst/>
          </a:prstGeom>
        </p:spPr>
        <p:txBody>
          <a:bodyPr wrap="square">
            <a:spAutoFit/>
          </a:bodyPr>
          <a:lstStyle/>
          <a:p>
            <a:pPr marL="342865" indent="-342865" algn="just">
              <a:buFont typeface="Arial"/>
              <a:buChar char="•"/>
            </a:pPr>
            <a:r>
              <a:rPr lang="en-US" sz="3200" dirty="0"/>
              <a:t>The network was made up of 5 </a:t>
            </a:r>
            <a:r>
              <a:rPr lang="en-US" sz="3200" dirty="0" err="1"/>
              <a:t>conv</a:t>
            </a:r>
            <a:r>
              <a:rPr lang="en-US" sz="3200" dirty="0"/>
              <a:t> layers, max-pooling layers, dropout layers, and 3 fully connected layers.</a:t>
            </a:r>
          </a:p>
          <a:p>
            <a:pPr marL="342865" indent="-342865" algn="just">
              <a:buFont typeface="Arial"/>
              <a:buChar char="•"/>
            </a:pPr>
            <a:r>
              <a:rPr lang="en-US" sz="3200" dirty="0"/>
              <a:t>Reduced test error rate to 15.4%</a:t>
            </a:r>
          </a:p>
        </p:txBody>
      </p:sp>
    </p:spTree>
    <p:extLst>
      <p:ext uri="{BB962C8B-B14F-4D97-AF65-F5344CB8AC3E}">
        <p14:creationId xmlns:p14="http://schemas.microsoft.com/office/powerpoint/2010/main" val="2413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Summary of </a:t>
            </a:r>
            <a:r>
              <a:rPr lang="en-US" dirty="0" err="1">
                <a:solidFill>
                  <a:srgbClr val="92D050"/>
                </a:solidFill>
              </a:rPr>
              <a:t>AlexNet</a:t>
            </a:r>
            <a:endParaRPr lang="en-US" dirty="0">
              <a:solidFill>
                <a:srgbClr val="92D050"/>
              </a:solidFill>
            </a:endParaRPr>
          </a:p>
        </p:txBody>
      </p:sp>
      <p:sp>
        <p:nvSpPr>
          <p:cNvPr id="3" name="Content Placeholder 2"/>
          <p:cNvSpPr>
            <a:spLocks noGrp="1"/>
          </p:cNvSpPr>
          <p:nvPr>
            <p:ph idx="1"/>
          </p:nvPr>
        </p:nvSpPr>
        <p:spPr>
          <a:xfrm>
            <a:off x="381000" y="1524000"/>
            <a:ext cx="8458200" cy="5105400"/>
          </a:xfrm>
        </p:spPr>
        <p:txBody>
          <a:bodyPr>
            <a:normAutofit fontScale="77500" lnSpcReduction="20000"/>
          </a:bodyPr>
          <a:lstStyle/>
          <a:p>
            <a:pPr marL="342865" indent="-342865" algn="just">
              <a:buFont typeface="Arial"/>
              <a:buChar char="•"/>
            </a:pPr>
            <a:r>
              <a:rPr lang="en-US" dirty="0"/>
              <a:t>Trained the network on </a:t>
            </a:r>
            <a:r>
              <a:rPr lang="en-US" dirty="0" err="1"/>
              <a:t>ImageNet</a:t>
            </a:r>
            <a:r>
              <a:rPr lang="en-US" dirty="0"/>
              <a:t> data, which contained over 15 million annotated images from a total of over 22,000 categories.</a:t>
            </a:r>
          </a:p>
          <a:p>
            <a:pPr marL="342865" indent="-342865" algn="just">
              <a:buFont typeface="Arial"/>
              <a:buChar char="•"/>
            </a:pPr>
            <a:r>
              <a:rPr lang="en-US" dirty="0"/>
              <a:t>Used </a:t>
            </a:r>
            <a:r>
              <a:rPr lang="en-US" dirty="0" err="1"/>
              <a:t>ReLU</a:t>
            </a:r>
            <a:r>
              <a:rPr lang="en-US" dirty="0"/>
              <a:t> for the nonlinearity functions (Found to decrease training time as </a:t>
            </a:r>
            <a:r>
              <a:rPr lang="en-US" dirty="0" err="1"/>
              <a:t>ReLUs</a:t>
            </a:r>
            <a:r>
              <a:rPr lang="en-US" dirty="0"/>
              <a:t> are several times faster than the conventional </a:t>
            </a:r>
            <a:r>
              <a:rPr lang="en-US" dirty="0" err="1"/>
              <a:t>tanh</a:t>
            </a:r>
            <a:r>
              <a:rPr lang="en-US" dirty="0"/>
              <a:t> function).</a:t>
            </a:r>
          </a:p>
          <a:p>
            <a:pPr marL="342865" indent="-342865" algn="just">
              <a:buFont typeface="Arial"/>
              <a:buChar char="•"/>
            </a:pPr>
            <a:r>
              <a:rPr lang="en-US" dirty="0"/>
              <a:t>Used data augmentation techniques that consisted of image translations, horizontal reflections, and patch extractions.</a:t>
            </a:r>
          </a:p>
          <a:p>
            <a:pPr marL="342865" indent="-342865" algn="just">
              <a:buFont typeface="Arial"/>
              <a:buChar char="•"/>
            </a:pPr>
            <a:r>
              <a:rPr lang="en-US" dirty="0"/>
              <a:t>Implemented dropout layers in order to combat the problem of </a:t>
            </a:r>
            <a:r>
              <a:rPr lang="en-US" dirty="0" err="1"/>
              <a:t>overfitting</a:t>
            </a:r>
            <a:r>
              <a:rPr lang="en-US" dirty="0"/>
              <a:t> to the training data.</a:t>
            </a:r>
          </a:p>
          <a:p>
            <a:pPr marL="342865" indent="-342865" algn="just">
              <a:buFont typeface="Arial"/>
              <a:buChar char="•"/>
            </a:pPr>
            <a:r>
              <a:rPr lang="en-US" dirty="0"/>
              <a:t>Trained the model using batch stochastic gradient descent, with specific values for momentum and weight decay.</a:t>
            </a:r>
          </a:p>
          <a:p>
            <a:pPr marL="342865" indent="-342865" algn="just">
              <a:buFont typeface="Arial"/>
              <a:buChar char="•"/>
            </a:pPr>
            <a:r>
              <a:rPr lang="en-US" dirty="0"/>
              <a:t>Trained on two GTX 580 GPUs for five to six days.</a:t>
            </a:r>
          </a:p>
          <a:p>
            <a:pPr algn="just"/>
            <a:endParaRPr lang="en-US" dirty="0"/>
          </a:p>
        </p:txBody>
      </p:sp>
    </p:spTree>
    <p:extLst>
      <p:ext uri="{BB962C8B-B14F-4D97-AF65-F5344CB8AC3E}">
        <p14:creationId xmlns:p14="http://schemas.microsoft.com/office/powerpoint/2010/main" val="4161227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3200"/>
            <a:ext cx="8229600" cy="1143000"/>
          </a:xfrm>
        </p:spPr>
        <p:txBody>
          <a:bodyPr/>
          <a:lstStyle/>
          <a:p>
            <a:r>
              <a:rPr lang="en-US" dirty="0" err="1">
                <a:solidFill>
                  <a:srgbClr val="92D050"/>
                </a:solidFill>
              </a:rPr>
              <a:t>ZFNet</a:t>
            </a:r>
            <a:endParaRPr lang="en-US" dirty="0">
              <a:solidFill>
                <a:srgbClr val="92D050"/>
              </a:solidFill>
            </a:endParaRPr>
          </a:p>
        </p:txBody>
      </p:sp>
    </p:spTree>
    <p:extLst>
      <p:ext uri="{BB962C8B-B14F-4D97-AF65-F5344CB8AC3E}">
        <p14:creationId xmlns:p14="http://schemas.microsoft.com/office/powerpoint/2010/main" val="1730104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err="1">
                <a:solidFill>
                  <a:srgbClr val="92D050"/>
                </a:solidFill>
              </a:rPr>
              <a:t>ZFnet</a:t>
            </a:r>
            <a:r>
              <a:rPr lang="en-US" dirty="0">
                <a:solidFill>
                  <a:srgbClr val="92D050"/>
                </a:solidFill>
              </a:rPr>
              <a:t> – ILSVRC 2013 winner</a:t>
            </a:r>
          </a:p>
        </p:txBody>
      </p:sp>
      <p:pic>
        <p:nvPicPr>
          <p:cNvPr id="4098" name="Picture 2" descr="https://adeshpande3.github.io/assets/zfne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78" y="1447800"/>
            <a:ext cx="8810625" cy="2882093"/>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479" y="4331030"/>
            <a:ext cx="9007522" cy="1670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066800" y="6001235"/>
            <a:ext cx="8534400" cy="584775"/>
          </a:xfrm>
          <a:prstGeom prst="rect">
            <a:avLst/>
          </a:prstGeom>
        </p:spPr>
        <p:txBody>
          <a:bodyPr wrap="square">
            <a:spAutoFit/>
          </a:bodyPr>
          <a:lstStyle/>
          <a:p>
            <a:pPr marL="342865" indent="-342865" algn="just">
              <a:buFont typeface="Arial"/>
              <a:buChar char="•"/>
            </a:pPr>
            <a:r>
              <a:rPr lang="en-US" sz="3200" dirty="0"/>
              <a:t>Reduced test error rate to 11.2%</a:t>
            </a:r>
          </a:p>
        </p:txBody>
      </p:sp>
    </p:spTree>
    <p:extLst>
      <p:ext uri="{BB962C8B-B14F-4D97-AF65-F5344CB8AC3E}">
        <p14:creationId xmlns:p14="http://schemas.microsoft.com/office/powerpoint/2010/main" val="3651107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Summary of </a:t>
            </a:r>
            <a:r>
              <a:rPr lang="en-US" dirty="0" err="1">
                <a:solidFill>
                  <a:srgbClr val="92D050"/>
                </a:solidFill>
              </a:rPr>
              <a:t>ZFNet</a:t>
            </a:r>
            <a:endParaRPr lang="en-US" dirty="0">
              <a:solidFill>
                <a:srgbClr val="92D050"/>
              </a:solidFill>
            </a:endParaRPr>
          </a:p>
        </p:txBody>
      </p:sp>
      <p:sp>
        <p:nvSpPr>
          <p:cNvPr id="3" name="Content Placeholder 2"/>
          <p:cNvSpPr>
            <a:spLocks noGrp="1"/>
          </p:cNvSpPr>
          <p:nvPr>
            <p:ph idx="1"/>
          </p:nvPr>
        </p:nvSpPr>
        <p:spPr>
          <a:xfrm>
            <a:off x="228600" y="1295400"/>
            <a:ext cx="8686800" cy="5562600"/>
          </a:xfrm>
        </p:spPr>
        <p:txBody>
          <a:bodyPr>
            <a:normAutofit fontScale="62500" lnSpcReduction="20000"/>
          </a:bodyPr>
          <a:lstStyle/>
          <a:p>
            <a:pPr marL="342865" indent="-342865" algn="just" fontAlgn="base">
              <a:buFont typeface="Arial"/>
              <a:buChar char="•"/>
            </a:pPr>
            <a:r>
              <a:rPr lang="en-US" sz="3600" dirty="0"/>
              <a:t>Very similar architecture to </a:t>
            </a:r>
            <a:r>
              <a:rPr lang="en-US" sz="3600" dirty="0" err="1"/>
              <a:t>AlexNet</a:t>
            </a:r>
            <a:r>
              <a:rPr lang="en-US" sz="3600" dirty="0"/>
              <a:t>, except for a few minor modifications.</a:t>
            </a:r>
          </a:p>
          <a:p>
            <a:pPr marL="342865" indent="-342865" algn="just" fontAlgn="base">
              <a:buFont typeface="Arial"/>
              <a:buChar char="•"/>
            </a:pPr>
            <a:r>
              <a:rPr lang="en-US" sz="3600" dirty="0" err="1"/>
              <a:t>AlexNet</a:t>
            </a:r>
            <a:r>
              <a:rPr lang="en-US" sz="3600" dirty="0"/>
              <a:t> trained on 15 million images, while ZF Net trained on only 1.3 million images.</a:t>
            </a:r>
          </a:p>
          <a:p>
            <a:pPr marL="342865" indent="-342865" algn="just" fontAlgn="base">
              <a:buFont typeface="Arial"/>
              <a:buChar char="•"/>
            </a:pPr>
            <a:r>
              <a:rPr lang="en-US" sz="3600" dirty="0"/>
              <a:t>Instead of using 11x11 sized filters in the first layer (which is what </a:t>
            </a:r>
            <a:r>
              <a:rPr lang="en-US" sz="3600" dirty="0" err="1"/>
              <a:t>AlexNet</a:t>
            </a:r>
            <a:r>
              <a:rPr lang="en-US" sz="3600" dirty="0"/>
              <a:t> implemented), ZF Net used filters of size 7x7 and a decreased stride value. The reasoning behind this modification is that a smaller filter size in the first </a:t>
            </a:r>
            <a:r>
              <a:rPr lang="en-US" sz="3600" dirty="0" err="1"/>
              <a:t>conv</a:t>
            </a:r>
            <a:r>
              <a:rPr lang="en-US" sz="3600" dirty="0"/>
              <a:t> layer helps retain a lot of original pixel information in the input volume. A filtering of size 11x11 proved to be skipping a lot of relevant information, especially as this is the first </a:t>
            </a:r>
            <a:r>
              <a:rPr lang="en-US" sz="3600" dirty="0" err="1"/>
              <a:t>conv</a:t>
            </a:r>
            <a:r>
              <a:rPr lang="en-US" sz="3600" dirty="0"/>
              <a:t> layer.</a:t>
            </a:r>
          </a:p>
          <a:p>
            <a:pPr marL="342865" indent="-342865" algn="just" fontAlgn="base">
              <a:buFont typeface="Arial"/>
              <a:buChar char="•"/>
            </a:pPr>
            <a:r>
              <a:rPr lang="en-US" sz="3600" dirty="0"/>
              <a:t>As the network grows, we also see a rise in the number of filters used.</a:t>
            </a:r>
          </a:p>
          <a:p>
            <a:pPr marL="342865" indent="-342865" algn="just" fontAlgn="base">
              <a:buFont typeface="Arial"/>
              <a:buChar char="•"/>
            </a:pPr>
            <a:r>
              <a:rPr lang="en-US" sz="3600" dirty="0"/>
              <a:t>Used </a:t>
            </a:r>
            <a:r>
              <a:rPr lang="en-US" sz="3600" dirty="0" err="1"/>
              <a:t>ReLUs</a:t>
            </a:r>
            <a:r>
              <a:rPr lang="en-US" sz="3600" dirty="0"/>
              <a:t> for their activation functions, cross-entropy loss for the error function, and trained using batch stochastic gradient descent.</a:t>
            </a:r>
          </a:p>
          <a:p>
            <a:pPr marL="342865" indent="-342865" algn="just" fontAlgn="base">
              <a:buFont typeface="Arial"/>
              <a:buChar char="•"/>
            </a:pPr>
            <a:r>
              <a:rPr lang="en-US" sz="3600" dirty="0"/>
              <a:t>Trained on a GTX 580 GPU for twelve days.</a:t>
            </a:r>
          </a:p>
          <a:p>
            <a:pPr algn="just"/>
            <a:endParaRPr lang="en-US" dirty="0"/>
          </a:p>
        </p:txBody>
      </p:sp>
    </p:spTree>
    <p:extLst>
      <p:ext uri="{BB962C8B-B14F-4D97-AF65-F5344CB8AC3E}">
        <p14:creationId xmlns:p14="http://schemas.microsoft.com/office/powerpoint/2010/main" val="426664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0"/>
            <a:ext cx="8229600" cy="1143000"/>
          </a:xfrm>
        </p:spPr>
        <p:txBody>
          <a:bodyPr/>
          <a:lstStyle/>
          <a:p>
            <a:r>
              <a:rPr lang="en-US" dirty="0" err="1">
                <a:solidFill>
                  <a:srgbClr val="92D050"/>
                </a:solidFill>
              </a:rPr>
              <a:t>VGGNet</a:t>
            </a:r>
            <a:endParaRPr lang="en-US" dirty="0">
              <a:solidFill>
                <a:srgbClr val="92D050"/>
              </a:solidFill>
            </a:endParaRPr>
          </a:p>
        </p:txBody>
      </p:sp>
    </p:spTree>
    <p:extLst>
      <p:ext uri="{BB962C8B-B14F-4D97-AF65-F5344CB8AC3E}">
        <p14:creationId xmlns:p14="http://schemas.microsoft.com/office/powerpoint/2010/main" val="1730104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dirty="0" err="1">
                <a:solidFill>
                  <a:srgbClr val="92D050"/>
                </a:solidFill>
              </a:rPr>
              <a:t>VGGnet</a:t>
            </a:r>
            <a:r>
              <a:rPr lang="en-US" dirty="0">
                <a:solidFill>
                  <a:srgbClr val="92D050"/>
                </a:solidFill>
              </a:rPr>
              <a:t> – ILSVRC 2014 (2</a:t>
            </a:r>
            <a:r>
              <a:rPr lang="en-US" baseline="30000" dirty="0">
                <a:solidFill>
                  <a:srgbClr val="92D050"/>
                </a:solidFill>
              </a:rPr>
              <a:t>nd</a:t>
            </a:r>
            <a:r>
              <a:rPr lang="en-US" dirty="0">
                <a:solidFill>
                  <a:srgbClr val="92D050"/>
                </a:solidFill>
              </a:rPr>
              <a:t> place)</a:t>
            </a:r>
          </a:p>
        </p:txBody>
      </p:sp>
      <p:sp>
        <p:nvSpPr>
          <p:cNvPr id="5" name="Rectangle 4"/>
          <p:cNvSpPr/>
          <p:nvPr/>
        </p:nvSpPr>
        <p:spPr>
          <a:xfrm>
            <a:off x="457200" y="5715000"/>
            <a:ext cx="8534400" cy="1200329"/>
          </a:xfrm>
          <a:prstGeom prst="rect">
            <a:avLst/>
          </a:prstGeom>
        </p:spPr>
        <p:txBody>
          <a:bodyPr wrap="square">
            <a:spAutoFit/>
          </a:bodyPr>
          <a:lstStyle/>
          <a:p>
            <a:pPr marL="342865" indent="-342865" algn="just">
              <a:buFont typeface="Arial"/>
              <a:buChar char="•"/>
            </a:pPr>
            <a:r>
              <a:rPr lang="en-US" sz="2400" dirty="0"/>
              <a:t>19 layer CNN that strictly used 3x3 filters with stride and pad of 1, along with 2x2 </a:t>
            </a:r>
            <a:r>
              <a:rPr lang="en-US" sz="2400" dirty="0" err="1"/>
              <a:t>maxpooling</a:t>
            </a:r>
            <a:r>
              <a:rPr lang="en-US" sz="2400" dirty="0"/>
              <a:t> layers with stride 2</a:t>
            </a:r>
          </a:p>
          <a:p>
            <a:pPr marL="342865" indent="-342865" algn="just">
              <a:buFont typeface="Arial"/>
              <a:buChar char="•"/>
            </a:pPr>
            <a:r>
              <a:rPr lang="en-US" sz="2400" dirty="0"/>
              <a:t>Reduced test error rate to 7.3%</a:t>
            </a:r>
          </a:p>
        </p:txBody>
      </p:sp>
      <p:pic>
        <p:nvPicPr>
          <p:cNvPr id="5122" name="Picture 2" descr="https://adeshpande3.github.io/assets/VGGNe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762000"/>
            <a:ext cx="6781800"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08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197"/>
            <a:ext cx="8229600" cy="1143000"/>
          </a:xfrm>
        </p:spPr>
        <p:txBody>
          <a:bodyPr/>
          <a:lstStyle/>
          <a:p>
            <a:r>
              <a:rPr lang="en-US" dirty="0">
                <a:solidFill>
                  <a:srgbClr val="92D050"/>
                </a:solidFill>
              </a:rPr>
              <a:t>Summary of </a:t>
            </a:r>
            <a:r>
              <a:rPr lang="en-US" dirty="0" err="1">
                <a:solidFill>
                  <a:srgbClr val="92D050"/>
                </a:solidFill>
              </a:rPr>
              <a:t>VGGNet</a:t>
            </a:r>
            <a:endParaRPr lang="en-US" dirty="0">
              <a:solidFill>
                <a:srgbClr val="92D050"/>
              </a:solidFill>
            </a:endParaRPr>
          </a:p>
        </p:txBody>
      </p:sp>
      <p:sp>
        <p:nvSpPr>
          <p:cNvPr id="3" name="Content Placeholder 2"/>
          <p:cNvSpPr>
            <a:spLocks noGrp="1"/>
          </p:cNvSpPr>
          <p:nvPr>
            <p:ph idx="1"/>
          </p:nvPr>
        </p:nvSpPr>
        <p:spPr>
          <a:xfrm>
            <a:off x="76200" y="1143000"/>
            <a:ext cx="8686800" cy="6172200"/>
          </a:xfrm>
        </p:spPr>
        <p:txBody>
          <a:bodyPr>
            <a:normAutofit fontScale="77500" lnSpcReduction="20000"/>
          </a:bodyPr>
          <a:lstStyle/>
          <a:p>
            <a:pPr algn="just" fontAlgn="base"/>
            <a:r>
              <a:rPr lang="en-US" sz="3000" dirty="0"/>
              <a:t>The use of only 3x3 sized filters is quite different from </a:t>
            </a:r>
            <a:r>
              <a:rPr lang="en-US" sz="3000" dirty="0" err="1"/>
              <a:t>AlexNet’s</a:t>
            </a:r>
            <a:r>
              <a:rPr lang="en-US" sz="3000" dirty="0"/>
              <a:t> 11x11 filters in the first layer and ZF Net’s 7x7 filters. The authors’ reasoning is that the combination of two 3x3 </a:t>
            </a:r>
            <a:r>
              <a:rPr lang="en-US" sz="3000" dirty="0" err="1"/>
              <a:t>conv</a:t>
            </a:r>
            <a:r>
              <a:rPr lang="en-US" sz="3000" dirty="0"/>
              <a:t> layers has an effective receptive field of 5x5. This in turn simulates a larger filter while keeping the benefits of smaller filter sizes. One of the benefits is a decrease in the number of parameters. Also, with two </a:t>
            </a:r>
            <a:r>
              <a:rPr lang="en-US" sz="3000" dirty="0" err="1"/>
              <a:t>conv</a:t>
            </a:r>
            <a:r>
              <a:rPr lang="en-US" sz="3000" dirty="0"/>
              <a:t> layers, we’re able to use two </a:t>
            </a:r>
            <a:r>
              <a:rPr lang="en-US" sz="3000" dirty="0" err="1"/>
              <a:t>ReLU</a:t>
            </a:r>
            <a:r>
              <a:rPr lang="en-US" sz="3000" dirty="0"/>
              <a:t> layers instead of one.</a:t>
            </a:r>
          </a:p>
          <a:p>
            <a:pPr algn="just" fontAlgn="base"/>
            <a:r>
              <a:rPr lang="en-US" sz="3000" dirty="0"/>
              <a:t>3 </a:t>
            </a:r>
            <a:r>
              <a:rPr lang="en-US" sz="3000" dirty="0" err="1"/>
              <a:t>conv</a:t>
            </a:r>
            <a:r>
              <a:rPr lang="en-US" sz="3000" dirty="0"/>
              <a:t> layers back to back have an effective receptive field of 7x7.</a:t>
            </a:r>
          </a:p>
          <a:p>
            <a:pPr algn="just" fontAlgn="base"/>
            <a:r>
              <a:rPr lang="en-US" sz="3000" dirty="0"/>
              <a:t>As the spatial size of the input volumes at each layer decrease (result of the </a:t>
            </a:r>
            <a:r>
              <a:rPr lang="en-US" sz="3000" dirty="0" err="1"/>
              <a:t>conv</a:t>
            </a:r>
            <a:r>
              <a:rPr lang="en-US" sz="3000" dirty="0"/>
              <a:t> and pool layers), the depth of the volumes increase due to the increased number of filters as you go down the network.</a:t>
            </a:r>
          </a:p>
          <a:p>
            <a:pPr algn="just" fontAlgn="base"/>
            <a:r>
              <a:rPr lang="en-US" sz="3000" dirty="0"/>
              <a:t>Interesting to notice that the number of filters doubles after each </a:t>
            </a:r>
            <a:r>
              <a:rPr lang="en-US" sz="3000" dirty="0" err="1"/>
              <a:t>maxpool</a:t>
            </a:r>
            <a:r>
              <a:rPr lang="en-US" sz="3000" dirty="0"/>
              <a:t> layer. This reinforces the idea of shrinking spatial dimensions, but growing depth.</a:t>
            </a:r>
          </a:p>
          <a:p>
            <a:pPr algn="just" fontAlgn="base"/>
            <a:r>
              <a:rPr lang="en-US" sz="3000" dirty="0"/>
              <a:t>Used scale jittering as one data augmentation technique during training and used </a:t>
            </a:r>
            <a:r>
              <a:rPr lang="en-US" sz="3000" dirty="0" err="1"/>
              <a:t>ReLU</a:t>
            </a:r>
            <a:r>
              <a:rPr lang="en-US" sz="3000" dirty="0"/>
              <a:t> layers after each </a:t>
            </a:r>
            <a:r>
              <a:rPr lang="en-US" sz="3000" dirty="0" err="1"/>
              <a:t>conv</a:t>
            </a:r>
            <a:r>
              <a:rPr lang="en-US" sz="3000" dirty="0"/>
              <a:t> layer and trained with batch gradient descent.</a:t>
            </a:r>
          </a:p>
          <a:p>
            <a:pPr algn="just" fontAlgn="base"/>
            <a:r>
              <a:rPr lang="en-US" sz="3000" dirty="0"/>
              <a:t>Trained on 4 </a:t>
            </a:r>
            <a:r>
              <a:rPr lang="en-US" sz="3000" dirty="0" err="1"/>
              <a:t>Nvidia</a:t>
            </a:r>
            <a:r>
              <a:rPr lang="en-US" sz="3000" dirty="0"/>
              <a:t> Titan Black GPUs for two to three weeks.</a:t>
            </a:r>
          </a:p>
          <a:p>
            <a:pPr algn="just"/>
            <a:endParaRPr lang="en-US" dirty="0"/>
          </a:p>
        </p:txBody>
      </p:sp>
    </p:spTree>
    <p:extLst>
      <p:ext uri="{BB962C8B-B14F-4D97-AF65-F5344CB8AC3E}">
        <p14:creationId xmlns:p14="http://schemas.microsoft.com/office/powerpoint/2010/main" val="1246034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0"/>
            <a:ext cx="8229600" cy="1143000"/>
          </a:xfrm>
        </p:spPr>
        <p:txBody>
          <a:bodyPr/>
          <a:lstStyle/>
          <a:p>
            <a:r>
              <a:rPr lang="en-US" dirty="0" err="1">
                <a:solidFill>
                  <a:srgbClr val="92D050"/>
                </a:solidFill>
              </a:rPr>
              <a:t>GoogleNet</a:t>
            </a:r>
            <a:endParaRPr lang="en-US" dirty="0">
              <a:solidFill>
                <a:srgbClr val="92D050"/>
              </a:solidFill>
            </a:endParaRPr>
          </a:p>
        </p:txBody>
      </p:sp>
    </p:spTree>
    <p:extLst>
      <p:ext uri="{BB962C8B-B14F-4D97-AF65-F5344CB8AC3E}">
        <p14:creationId xmlns:p14="http://schemas.microsoft.com/office/powerpoint/2010/main" val="1730104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dirty="0" err="1">
                <a:solidFill>
                  <a:srgbClr val="92D050"/>
                </a:solidFill>
              </a:rPr>
              <a:t>GoogleNet</a:t>
            </a:r>
            <a:r>
              <a:rPr lang="en-US" dirty="0">
                <a:solidFill>
                  <a:srgbClr val="92D050"/>
                </a:solidFill>
              </a:rPr>
              <a:t> – ILSVRC 2014 winner</a:t>
            </a:r>
          </a:p>
        </p:txBody>
      </p:sp>
      <p:sp>
        <p:nvSpPr>
          <p:cNvPr id="5" name="Rectangle 4"/>
          <p:cNvSpPr/>
          <p:nvPr/>
        </p:nvSpPr>
        <p:spPr>
          <a:xfrm>
            <a:off x="628934" y="5486400"/>
            <a:ext cx="8534400" cy="1077218"/>
          </a:xfrm>
          <a:prstGeom prst="rect">
            <a:avLst/>
          </a:prstGeom>
        </p:spPr>
        <p:txBody>
          <a:bodyPr wrap="square">
            <a:spAutoFit/>
          </a:bodyPr>
          <a:lstStyle/>
          <a:p>
            <a:pPr marL="342865" indent="-342865" algn="just">
              <a:buFont typeface="Arial"/>
              <a:buChar char="•"/>
            </a:pPr>
            <a:r>
              <a:rPr lang="en-US" sz="3200" dirty="0"/>
              <a:t>22 layer CNN</a:t>
            </a:r>
          </a:p>
          <a:p>
            <a:pPr marL="342865" indent="-342865" algn="just">
              <a:buFont typeface="Arial"/>
              <a:buChar char="•"/>
            </a:pPr>
            <a:r>
              <a:rPr lang="en-US" sz="3200" dirty="0"/>
              <a:t>Reduced test error rate to 6.7%</a:t>
            </a:r>
          </a:p>
        </p:txBody>
      </p:sp>
      <p:pic>
        <p:nvPicPr>
          <p:cNvPr id="6146" name="Picture 2" descr="https://adeshpande3.github.io/assets/GoogLeNe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52600"/>
            <a:ext cx="9144000"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878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7-01-18 at 3.28.57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7800"/>
            <a:ext cx="8991600" cy="4847824"/>
          </a:xfrm>
          <a:prstGeom prst="rect">
            <a:avLst/>
          </a:prstGeom>
        </p:spPr>
      </p:pic>
      <p:sp>
        <p:nvSpPr>
          <p:cNvPr id="5" name="Title 1"/>
          <p:cNvSpPr>
            <a:spLocks noGrp="1"/>
          </p:cNvSpPr>
          <p:nvPr>
            <p:ph type="title"/>
          </p:nvPr>
        </p:nvSpPr>
        <p:spPr>
          <a:xfrm>
            <a:off x="533400" y="152400"/>
            <a:ext cx="8229600" cy="990600"/>
          </a:xfrm>
        </p:spPr>
        <p:txBody>
          <a:bodyPr>
            <a:normAutofit/>
          </a:bodyPr>
          <a:lstStyle/>
          <a:p>
            <a:r>
              <a:rPr lang="en-US" dirty="0" err="1">
                <a:solidFill>
                  <a:srgbClr val="92D050"/>
                </a:solidFill>
              </a:rPr>
              <a:t>GoogleNet</a:t>
            </a:r>
            <a:r>
              <a:rPr lang="en-US" dirty="0">
                <a:solidFill>
                  <a:srgbClr val="92D050"/>
                </a:solidFill>
              </a:rPr>
              <a:t> – ILSVRC 2014 winner</a:t>
            </a:r>
          </a:p>
        </p:txBody>
      </p:sp>
    </p:spTree>
    <p:extLst>
      <p:ext uri="{BB962C8B-B14F-4D97-AF65-F5344CB8AC3E}">
        <p14:creationId xmlns:p14="http://schemas.microsoft.com/office/powerpoint/2010/main" val="2714874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Inception Idea</a:t>
            </a:r>
          </a:p>
        </p:txBody>
      </p:sp>
      <p:pic>
        <p:nvPicPr>
          <p:cNvPr id="7170" name="Picture 2" descr="https://adeshpande3.github.io/assets/GoogLeNet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133600"/>
            <a:ext cx="8743950" cy="3124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657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95400"/>
            <a:ext cx="8458200" cy="2620963"/>
          </a:xfrm>
        </p:spPr>
        <p:txBody>
          <a:bodyPr>
            <a:normAutofit fontScale="92500" lnSpcReduction="10000"/>
          </a:bodyPr>
          <a:lstStyle/>
          <a:p>
            <a:pPr algn="just"/>
            <a:r>
              <a:rPr lang="en-US" dirty="0"/>
              <a:t>At each layer of a traditional </a:t>
            </a:r>
            <a:r>
              <a:rPr lang="en-US" dirty="0" err="1"/>
              <a:t>ConvNet</a:t>
            </a:r>
            <a:r>
              <a:rPr lang="en-US" dirty="0"/>
              <a:t>, you have to make a choice of whether to have a pooling operation or a </a:t>
            </a:r>
            <a:r>
              <a:rPr lang="en-US" dirty="0" err="1"/>
              <a:t>conv</a:t>
            </a:r>
            <a:r>
              <a:rPr lang="en-US" dirty="0"/>
              <a:t> operation (there is also the choice of filter size). What an Inception module allows you to do is perform all of these operations in parallel.</a:t>
            </a:r>
          </a:p>
        </p:txBody>
      </p:sp>
      <p:pic>
        <p:nvPicPr>
          <p:cNvPr id="4" name="Picture 3" descr="Screen Shot 2017-01-18 at 2.54.46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3793726"/>
            <a:ext cx="6096000" cy="2962266"/>
          </a:xfrm>
          <a:prstGeom prst="rect">
            <a:avLst/>
          </a:prstGeom>
        </p:spPr>
      </p:pic>
      <p:sp>
        <p:nvSpPr>
          <p:cNvPr id="5" name="Title 1"/>
          <p:cNvSpPr>
            <a:spLocks noGrp="1"/>
          </p:cNvSpPr>
          <p:nvPr>
            <p:ph type="title"/>
          </p:nvPr>
        </p:nvSpPr>
        <p:spPr>
          <a:xfrm>
            <a:off x="457200" y="274638"/>
            <a:ext cx="8229600" cy="1143000"/>
          </a:xfrm>
        </p:spPr>
        <p:txBody>
          <a:bodyPr/>
          <a:lstStyle/>
          <a:p>
            <a:r>
              <a:rPr lang="en-US" dirty="0">
                <a:solidFill>
                  <a:srgbClr val="92D050"/>
                </a:solidFill>
              </a:rPr>
              <a:t>Naïve Inception Idea</a:t>
            </a:r>
          </a:p>
        </p:txBody>
      </p:sp>
    </p:spTree>
    <p:extLst>
      <p:ext uri="{BB962C8B-B14F-4D97-AF65-F5344CB8AC3E}">
        <p14:creationId xmlns:p14="http://schemas.microsoft.com/office/powerpoint/2010/main" val="2472986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458200" cy="4830763"/>
          </a:xfrm>
        </p:spPr>
        <p:txBody>
          <a:bodyPr>
            <a:noAutofit/>
          </a:bodyPr>
          <a:lstStyle/>
          <a:p>
            <a:pPr algn="just"/>
            <a:r>
              <a:rPr lang="en-US" sz="3000" dirty="0"/>
              <a:t>This network would end up with an extremely large depth channel for the output volume. How do you reduce the depth dimension of feature maps?</a:t>
            </a:r>
          </a:p>
          <a:p>
            <a:pPr algn="just"/>
            <a:r>
              <a:rPr lang="en-US" sz="3000" dirty="0"/>
              <a:t>By adding 1x1 </a:t>
            </a:r>
            <a:r>
              <a:rPr lang="en-US" sz="3000" dirty="0" err="1"/>
              <a:t>conv</a:t>
            </a:r>
            <a:r>
              <a:rPr lang="en-US" sz="3000" dirty="0"/>
              <a:t> operations before the 3x3 and 5x5 layers. The 1x1 convolutions (or network in network layer) provide a method of dimensionality reduction</a:t>
            </a:r>
          </a:p>
          <a:p>
            <a:pPr algn="just"/>
            <a:r>
              <a:rPr lang="en-US" sz="3000" dirty="0"/>
              <a:t>These 1x1 </a:t>
            </a:r>
            <a:r>
              <a:rPr lang="en-US" sz="3000" dirty="0" err="1"/>
              <a:t>conv</a:t>
            </a:r>
            <a:r>
              <a:rPr lang="en-US" sz="3000" dirty="0"/>
              <a:t> layers are followed by </a:t>
            </a:r>
            <a:r>
              <a:rPr lang="en-US" sz="3000" dirty="0" err="1"/>
              <a:t>ReLU</a:t>
            </a:r>
            <a:r>
              <a:rPr lang="en-US" sz="3000" dirty="0"/>
              <a:t> units which adds more non-linearity to network</a:t>
            </a:r>
          </a:p>
          <a:p>
            <a:pPr algn="just"/>
            <a:r>
              <a:rPr lang="en-US" sz="2800" dirty="0"/>
              <a:t>Example: Assume an input to any layer is: 100x100x60. Applying 20 filters of 1x1 convolution would allow you to reduce the volume to 100x100x20 </a:t>
            </a:r>
          </a:p>
          <a:p>
            <a:pPr algn="just"/>
            <a:endParaRPr lang="en-US" sz="3000" dirty="0"/>
          </a:p>
        </p:txBody>
      </p:sp>
      <p:sp>
        <p:nvSpPr>
          <p:cNvPr id="4" name="Title 1"/>
          <p:cNvSpPr>
            <a:spLocks noGrp="1"/>
          </p:cNvSpPr>
          <p:nvPr>
            <p:ph type="title"/>
          </p:nvPr>
        </p:nvSpPr>
        <p:spPr>
          <a:xfrm>
            <a:off x="457200" y="274638"/>
            <a:ext cx="8229600" cy="1143000"/>
          </a:xfrm>
        </p:spPr>
        <p:txBody>
          <a:bodyPr/>
          <a:lstStyle/>
          <a:p>
            <a:r>
              <a:rPr lang="en-US" dirty="0">
                <a:solidFill>
                  <a:srgbClr val="92D050"/>
                </a:solidFill>
              </a:rPr>
              <a:t>Naïve Inception Idea</a:t>
            </a:r>
          </a:p>
        </p:txBody>
      </p:sp>
    </p:spTree>
    <p:extLst>
      <p:ext uri="{BB962C8B-B14F-4D97-AF65-F5344CB8AC3E}">
        <p14:creationId xmlns:p14="http://schemas.microsoft.com/office/powerpoint/2010/main" val="1640098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066800"/>
            <a:ext cx="8915400" cy="5710031"/>
          </a:xfrm>
        </p:spPr>
        <p:txBody>
          <a:bodyPr>
            <a:normAutofit lnSpcReduction="10000"/>
          </a:bodyPr>
          <a:lstStyle/>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The net result is  3x3 and 5x5 convolutions won’t have as large of a volume to deal with. This can be thought of as a “pooling of features” because we are reducing the depth of the volume, similar to how we reduce the dimensions of height and width with normal max-pooling layers.  </a:t>
            </a:r>
          </a:p>
          <a:p>
            <a:pPr algn="just"/>
            <a:endParaRPr lang="en-US" dirty="0"/>
          </a:p>
        </p:txBody>
      </p:sp>
      <p:sp>
        <p:nvSpPr>
          <p:cNvPr id="5" name="Title 1"/>
          <p:cNvSpPr>
            <a:spLocks noGrp="1"/>
          </p:cNvSpPr>
          <p:nvPr>
            <p:ph type="title"/>
          </p:nvPr>
        </p:nvSpPr>
        <p:spPr>
          <a:xfrm>
            <a:off x="457200" y="31845"/>
            <a:ext cx="8229600" cy="1143000"/>
          </a:xfrm>
        </p:spPr>
        <p:txBody>
          <a:bodyPr/>
          <a:lstStyle/>
          <a:p>
            <a:r>
              <a:rPr lang="en-US" dirty="0">
                <a:solidFill>
                  <a:srgbClr val="92D050"/>
                </a:solidFill>
              </a:rPr>
              <a:t>Improved Inception Idea</a:t>
            </a:r>
          </a:p>
        </p:txBody>
      </p:sp>
      <p:pic>
        <p:nvPicPr>
          <p:cNvPr id="6" name="Picture 5" descr="Screen Shot 2017-01-18 at 2.56.56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990600"/>
            <a:ext cx="5562600" cy="2743200"/>
          </a:xfrm>
          <a:prstGeom prst="rect">
            <a:avLst/>
          </a:prstGeom>
        </p:spPr>
      </p:pic>
    </p:spTree>
    <p:extLst>
      <p:ext uri="{BB962C8B-B14F-4D97-AF65-F5344CB8AC3E}">
        <p14:creationId xmlns:p14="http://schemas.microsoft.com/office/powerpoint/2010/main" val="3937667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197"/>
            <a:ext cx="8229600" cy="1143000"/>
          </a:xfrm>
        </p:spPr>
        <p:txBody>
          <a:bodyPr/>
          <a:lstStyle/>
          <a:p>
            <a:r>
              <a:rPr lang="en-US" dirty="0">
                <a:solidFill>
                  <a:srgbClr val="92D050"/>
                </a:solidFill>
              </a:rPr>
              <a:t>Summary of </a:t>
            </a:r>
            <a:r>
              <a:rPr lang="en-US" dirty="0" err="1">
                <a:solidFill>
                  <a:srgbClr val="92D050"/>
                </a:solidFill>
              </a:rPr>
              <a:t>GoogleNet</a:t>
            </a:r>
            <a:endParaRPr lang="en-US" dirty="0">
              <a:solidFill>
                <a:srgbClr val="92D050"/>
              </a:solidFill>
            </a:endParaRPr>
          </a:p>
        </p:txBody>
      </p:sp>
      <p:sp>
        <p:nvSpPr>
          <p:cNvPr id="3" name="Content Placeholder 2"/>
          <p:cNvSpPr>
            <a:spLocks noGrp="1"/>
          </p:cNvSpPr>
          <p:nvPr>
            <p:ph idx="1"/>
          </p:nvPr>
        </p:nvSpPr>
        <p:spPr>
          <a:xfrm>
            <a:off x="152400" y="990600"/>
            <a:ext cx="8686800" cy="5638800"/>
          </a:xfrm>
        </p:spPr>
        <p:txBody>
          <a:bodyPr>
            <a:normAutofit lnSpcReduction="10000"/>
          </a:bodyPr>
          <a:lstStyle/>
          <a:p>
            <a:pPr algn="just" fontAlgn="base"/>
            <a:r>
              <a:rPr lang="en-US" sz="3000" dirty="0"/>
              <a:t>Used 9 Inception modules in the whole architecture, with over 100 layers in total! Now that is deep…</a:t>
            </a:r>
          </a:p>
          <a:p>
            <a:pPr algn="just" fontAlgn="base"/>
            <a:r>
              <a:rPr lang="en-US" sz="3000" dirty="0"/>
              <a:t>No use of fully connected layers! They use an average pool instead, to go from a 7x7x1024 volume to a 1x1x1024 volume. This saves a huge number of parameters.</a:t>
            </a:r>
          </a:p>
          <a:p>
            <a:pPr algn="just" fontAlgn="base"/>
            <a:r>
              <a:rPr lang="en-US" sz="3000" dirty="0"/>
              <a:t>Uses 12x fewer parameters than </a:t>
            </a:r>
            <a:r>
              <a:rPr lang="en-US" sz="3000" dirty="0" err="1"/>
              <a:t>AlexNet</a:t>
            </a:r>
            <a:r>
              <a:rPr lang="en-US" sz="3000" dirty="0"/>
              <a:t>.</a:t>
            </a:r>
          </a:p>
          <a:p>
            <a:pPr algn="just" fontAlgn="base"/>
            <a:r>
              <a:rPr lang="en-US" sz="3000" dirty="0"/>
              <a:t>During testing, multiple crops of the same image were created, fed into the network, and the </a:t>
            </a:r>
            <a:r>
              <a:rPr lang="en-US" sz="3000" dirty="0" err="1"/>
              <a:t>softmax</a:t>
            </a:r>
            <a:r>
              <a:rPr lang="en-US" sz="3000" dirty="0"/>
              <a:t> probabilities were averaged to give us the final solution.</a:t>
            </a:r>
          </a:p>
          <a:p>
            <a:pPr algn="just" fontAlgn="base"/>
            <a:r>
              <a:rPr lang="en-US" sz="3000" dirty="0"/>
              <a:t>Trained on “a few high-end GPUs within a week”.</a:t>
            </a:r>
          </a:p>
          <a:p>
            <a:pPr algn="just" fontAlgn="base"/>
            <a:endParaRPr lang="en-US" sz="3000" dirty="0"/>
          </a:p>
          <a:p>
            <a:pPr algn="just"/>
            <a:endParaRPr lang="en-US" dirty="0"/>
          </a:p>
        </p:txBody>
      </p:sp>
    </p:spTree>
    <p:extLst>
      <p:ext uri="{BB962C8B-B14F-4D97-AF65-F5344CB8AC3E}">
        <p14:creationId xmlns:p14="http://schemas.microsoft.com/office/powerpoint/2010/main" val="991322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solidFill>
                  <a:srgbClr val="92D050"/>
                </a:solidFill>
              </a:rPr>
              <a:t>Inception v2, v3</a:t>
            </a:r>
          </a:p>
        </p:txBody>
      </p:sp>
      <p:sp>
        <p:nvSpPr>
          <p:cNvPr id="5" name="Content Placeholder 4"/>
          <p:cNvSpPr>
            <a:spLocks noGrp="1"/>
          </p:cNvSpPr>
          <p:nvPr>
            <p:ph idx="1"/>
          </p:nvPr>
        </p:nvSpPr>
        <p:spPr>
          <a:xfrm>
            <a:off x="7961" y="914400"/>
            <a:ext cx="8610600" cy="5135563"/>
          </a:xfrm>
        </p:spPr>
        <p:txBody>
          <a:bodyPr/>
          <a:lstStyle/>
          <a:p>
            <a:pPr marL="457200" indent="-457200" algn="just">
              <a:buFont typeface="Arial"/>
              <a:buChar char="•"/>
            </a:pPr>
            <a:r>
              <a:rPr lang="en-US" sz="2800" dirty="0"/>
              <a:t>Regularize training with batch normalization, reducing importance of auxiliary classifiers</a:t>
            </a:r>
          </a:p>
          <a:p>
            <a:pPr marL="457200" indent="-457200" algn="just">
              <a:buFont typeface="Arial"/>
              <a:buChar char="•"/>
            </a:pPr>
            <a:r>
              <a:rPr lang="en-US" sz="2800" dirty="0"/>
              <a:t>More variants of inception modules with aggressive factorization of filters and increasing the number of feature maps while decreasing spatial resolution (pooling) </a:t>
            </a:r>
          </a:p>
          <a:p>
            <a:pPr marL="457200" indent="-457200" algn="just">
              <a:buFont typeface="Arial"/>
              <a:buChar char="•"/>
            </a:pPr>
            <a:endParaRPr lang="en-US" sz="2400" dirty="0"/>
          </a:p>
        </p:txBody>
      </p:sp>
      <p:pic>
        <p:nvPicPr>
          <p:cNvPr id="8" name="Picture 7"/>
          <p:cNvPicPr>
            <a:picLocks noChangeAspect="1"/>
          </p:cNvPicPr>
          <p:nvPr/>
        </p:nvPicPr>
        <p:blipFill>
          <a:blip r:embed="rId2"/>
          <a:stretch>
            <a:fillRect/>
          </a:stretch>
        </p:blipFill>
        <p:spPr>
          <a:xfrm>
            <a:off x="0" y="4069463"/>
            <a:ext cx="2438400" cy="2438400"/>
          </a:xfrm>
          <a:prstGeom prst="rect">
            <a:avLst/>
          </a:prstGeom>
        </p:spPr>
      </p:pic>
      <p:pic>
        <p:nvPicPr>
          <p:cNvPr id="9" name="Picture 8"/>
          <p:cNvPicPr>
            <a:picLocks noChangeAspect="1"/>
          </p:cNvPicPr>
          <p:nvPr/>
        </p:nvPicPr>
        <p:blipFill>
          <a:blip r:embed="rId3"/>
          <a:stretch>
            <a:fillRect/>
          </a:stretch>
        </p:blipFill>
        <p:spPr>
          <a:xfrm>
            <a:off x="2455460" y="3124200"/>
            <a:ext cx="3425293" cy="3733800"/>
          </a:xfrm>
          <a:prstGeom prst="rect">
            <a:avLst/>
          </a:prstGeom>
        </p:spPr>
      </p:pic>
      <p:pic>
        <p:nvPicPr>
          <p:cNvPr id="12" name="Picture 11"/>
          <p:cNvPicPr>
            <a:picLocks noChangeAspect="1"/>
          </p:cNvPicPr>
          <p:nvPr/>
        </p:nvPicPr>
        <p:blipFill>
          <a:blip r:embed="rId4"/>
          <a:stretch>
            <a:fillRect/>
          </a:stretch>
        </p:blipFill>
        <p:spPr>
          <a:xfrm>
            <a:off x="6077213" y="3665406"/>
            <a:ext cx="2895600" cy="3173260"/>
          </a:xfrm>
          <a:prstGeom prst="rect">
            <a:avLst/>
          </a:prstGeom>
        </p:spPr>
      </p:pic>
    </p:spTree>
    <p:extLst>
      <p:ext uri="{BB962C8B-B14F-4D97-AF65-F5344CB8AC3E}">
        <p14:creationId xmlns:p14="http://schemas.microsoft.com/office/powerpoint/2010/main" val="624613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0"/>
            <a:ext cx="8229600" cy="1143000"/>
          </a:xfrm>
        </p:spPr>
        <p:txBody>
          <a:bodyPr/>
          <a:lstStyle/>
          <a:p>
            <a:r>
              <a:rPr lang="en-US" dirty="0" err="1">
                <a:solidFill>
                  <a:srgbClr val="92D050"/>
                </a:solidFill>
              </a:rPr>
              <a:t>ResNet</a:t>
            </a:r>
            <a:endParaRPr lang="en-US" dirty="0">
              <a:solidFill>
                <a:srgbClr val="92D050"/>
              </a:solidFill>
            </a:endParaRPr>
          </a:p>
        </p:txBody>
      </p:sp>
    </p:spTree>
    <p:extLst>
      <p:ext uri="{BB962C8B-B14F-4D97-AF65-F5344CB8AC3E}">
        <p14:creationId xmlns:p14="http://schemas.microsoft.com/office/powerpoint/2010/main" val="817283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dirty="0" err="1">
                <a:solidFill>
                  <a:srgbClr val="92D050"/>
                </a:solidFill>
              </a:rPr>
              <a:t>ResNet</a:t>
            </a:r>
            <a:r>
              <a:rPr lang="en-US" dirty="0">
                <a:solidFill>
                  <a:srgbClr val="92D050"/>
                </a:solidFill>
              </a:rPr>
              <a:t> – ILSVRC 2015 winner</a:t>
            </a:r>
          </a:p>
        </p:txBody>
      </p:sp>
      <p:sp>
        <p:nvSpPr>
          <p:cNvPr id="5" name="Rectangle 4"/>
          <p:cNvSpPr/>
          <p:nvPr/>
        </p:nvSpPr>
        <p:spPr>
          <a:xfrm>
            <a:off x="628934" y="5486400"/>
            <a:ext cx="8534400" cy="1077218"/>
          </a:xfrm>
          <a:prstGeom prst="rect">
            <a:avLst/>
          </a:prstGeom>
        </p:spPr>
        <p:txBody>
          <a:bodyPr wrap="square">
            <a:spAutoFit/>
          </a:bodyPr>
          <a:lstStyle/>
          <a:p>
            <a:pPr marL="342865" indent="-342865" algn="just">
              <a:buFont typeface="Arial"/>
              <a:buChar char="•"/>
            </a:pPr>
            <a:r>
              <a:rPr lang="en-US" sz="3200" dirty="0"/>
              <a:t>152 layer CNN</a:t>
            </a:r>
          </a:p>
          <a:p>
            <a:pPr marL="342865" indent="-342865" algn="just">
              <a:buFont typeface="Arial"/>
              <a:buChar char="•"/>
            </a:pPr>
            <a:r>
              <a:rPr lang="en-US" sz="3200" dirty="0"/>
              <a:t>Reduced test error rate to 3.6%</a:t>
            </a:r>
          </a:p>
        </p:txBody>
      </p:sp>
      <p:pic>
        <p:nvPicPr>
          <p:cNvPr id="922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823965"/>
            <a:ext cx="3186112" cy="5201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3807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533400" y="152400"/>
            <a:ext cx="8229600" cy="990600"/>
          </a:xfrm>
        </p:spPr>
        <p:txBody>
          <a:bodyPr>
            <a:normAutofit/>
          </a:bodyPr>
          <a:lstStyle/>
          <a:p>
            <a:r>
              <a:rPr lang="en-US" dirty="0" err="1">
                <a:solidFill>
                  <a:srgbClr val="92D050"/>
                </a:solidFill>
              </a:rPr>
              <a:t>ResNet</a:t>
            </a:r>
            <a:r>
              <a:rPr lang="en-US" dirty="0">
                <a:solidFill>
                  <a:srgbClr val="92D050"/>
                </a:solidFill>
              </a:rPr>
              <a:t> – ILSVRC 2015 winner</a:t>
            </a:r>
          </a:p>
        </p:txBody>
      </p:sp>
      <p:pic>
        <p:nvPicPr>
          <p:cNvPr id="6" name="Picture 5" descr="Screen Shot 2017-01-18 at 4.39.47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28800"/>
            <a:ext cx="9144000" cy="4040372"/>
          </a:xfrm>
          <a:prstGeom prst="rect">
            <a:avLst/>
          </a:prstGeom>
        </p:spPr>
      </p:pic>
    </p:spTree>
    <p:extLst>
      <p:ext uri="{BB962C8B-B14F-4D97-AF65-F5344CB8AC3E}">
        <p14:creationId xmlns:p14="http://schemas.microsoft.com/office/powerpoint/2010/main" val="3616688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dirty="0">
                <a:solidFill>
                  <a:srgbClr val="92D050"/>
                </a:solidFill>
              </a:rPr>
              <a:t>Issues with deeper networks</a:t>
            </a:r>
          </a:p>
        </p:txBody>
      </p:sp>
      <p:sp>
        <p:nvSpPr>
          <p:cNvPr id="3" name="Content Placeholder 2"/>
          <p:cNvSpPr>
            <a:spLocks noGrp="1"/>
          </p:cNvSpPr>
          <p:nvPr>
            <p:ph idx="1"/>
          </p:nvPr>
        </p:nvSpPr>
        <p:spPr>
          <a:xfrm>
            <a:off x="152400" y="1066800"/>
            <a:ext cx="8229600" cy="5029200"/>
          </a:xfrm>
        </p:spPr>
        <p:txBody>
          <a:bodyPr>
            <a:normAutofit fontScale="92500" lnSpcReduction="20000"/>
          </a:bodyPr>
          <a:lstStyle/>
          <a:p>
            <a:pPr algn="just"/>
            <a:r>
              <a:rPr lang="en-US" dirty="0"/>
              <a:t>Does increasing the depth should increase the accuracy of the network, as long as over-fitting is taken care of?</a:t>
            </a:r>
          </a:p>
          <a:p>
            <a:pPr algn="just"/>
            <a:endParaRPr lang="en-US" dirty="0"/>
          </a:p>
          <a:p>
            <a:pPr algn="just"/>
            <a:r>
              <a:rPr lang="en-US" dirty="0"/>
              <a:t>No. The problem with increased depth is that the signal required to change the weights, which arises from the end of the network by comparing ground-truth and prediction becomes very small at the earlier layers, because of increased depth. It essentially means that earlier layers are almost negligible learned. This is called </a:t>
            </a:r>
            <a:r>
              <a:rPr lang="en-US" b="1" dirty="0"/>
              <a:t>vanishing gradient.</a:t>
            </a:r>
            <a:r>
              <a:rPr lang="en-US" dirty="0"/>
              <a:t> </a:t>
            </a:r>
          </a:p>
        </p:txBody>
      </p:sp>
    </p:spTree>
    <p:extLst>
      <p:ext uri="{BB962C8B-B14F-4D97-AF65-F5344CB8AC3E}">
        <p14:creationId xmlns:p14="http://schemas.microsoft.com/office/powerpoint/2010/main" val="122730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solidFill>
                  <a:srgbClr val="92D050"/>
                </a:solidFill>
              </a:rPr>
              <a:t>Residual module</a:t>
            </a:r>
          </a:p>
        </p:txBody>
      </p:sp>
      <p:sp>
        <p:nvSpPr>
          <p:cNvPr id="3" name="Content Placeholder 2"/>
          <p:cNvSpPr>
            <a:spLocks noGrp="1"/>
          </p:cNvSpPr>
          <p:nvPr>
            <p:ph idx="1"/>
          </p:nvPr>
        </p:nvSpPr>
        <p:spPr>
          <a:xfrm>
            <a:off x="152400" y="1066800"/>
            <a:ext cx="8229600" cy="3810000"/>
          </a:xfrm>
        </p:spPr>
        <p:txBody>
          <a:bodyPr>
            <a:normAutofit lnSpcReduction="10000"/>
          </a:bodyPr>
          <a:lstStyle/>
          <a:p>
            <a:pPr algn="just"/>
            <a:r>
              <a:rPr lang="en-US" dirty="0"/>
              <a:t>A Residual Network, or </a:t>
            </a:r>
            <a:r>
              <a:rPr lang="en-US" dirty="0" err="1"/>
              <a:t>ResNet</a:t>
            </a:r>
            <a:r>
              <a:rPr lang="en-US" dirty="0"/>
              <a:t> is a neural network architecture which solves the problem of vanishing gradients in the simplest way possible.</a:t>
            </a:r>
          </a:p>
          <a:p>
            <a:pPr algn="just"/>
            <a:r>
              <a:rPr lang="en-US" dirty="0"/>
              <a:t>If there is trouble sending the gradient signal backwards, why not provide the network with a shortcut at each layer to make things happen more smoothly</a:t>
            </a:r>
          </a:p>
        </p:txBody>
      </p:sp>
      <p:pic>
        <p:nvPicPr>
          <p:cNvPr id="4" name="Picture 3"/>
          <p:cNvPicPr>
            <a:picLocks noChangeAspect="1"/>
          </p:cNvPicPr>
          <p:nvPr/>
        </p:nvPicPr>
        <p:blipFill>
          <a:blip r:embed="rId2"/>
          <a:stretch>
            <a:fillRect/>
          </a:stretch>
        </p:blipFill>
        <p:spPr>
          <a:xfrm>
            <a:off x="4474191" y="4470211"/>
            <a:ext cx="3374409" cy="2275764"/>
          </a:xfrm>
          <a:prstGeom prst="rect">
            <a:avLst/>
          </a:prstGeom>
        </p:spPr>
      </p:pic>
    </p:spTree>
    <p:extLst>
      <p:ext uri="{BB962C8B-B14F-4D97-AF65-F5344CB8AC3E}">
        <p14:creationId xmlns:p14="http://schemas.microsoft.com/office/powerpoint/2010/main" val="2348636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686800" cy="5562600"/>
          </a:xfrm>
        </p:spPr>
        <p:txBody>
          <a:bodyPr>
            <a:normAutofit fontScale="55000" lnSpcReduction="20000"/>
          </a:bodyPr>
          <a:lstStyle/>
          <a:p>
            <a:pPr algn="just"/>
            <a:r>
              <a:rPr lang="en-US" sz="5100" dirty="0"/>
              <a:t>In a traditional network the activation at a layer is defined as follows: y = f(x), where f(x) is our convolution, matrix multiplication, or batch normalization, etc. When the signal is sent backwards, the gradient always must pass through f(x), which can cause trouble due to the nonlinearities which are involved. </a:t>
            </a:r>
          </a:p>
          <a:p>
            <a:pPr algn="just"/>
            <a:endParaRPr lang="en-US" sz="5100" dirty="0"/>
          </a:p>
          <a:p>
            <a:pPr algn="just"/>
            <a:r>
              <a:rPr lang="en-US" sz="5100" dirty="0"/>
              <a:t>Instead, at each layer the </a:t>
            </a:r>
            <a:r>
              <a:rPr lang="en-US" sz="5100" dirty="0" err="1"/>
              <a:t>ResNet</a:t>
            </a:r>
            <a:r>
              <a:rPr lang="en-US" sz="5100" dirty="0"/>
              <a:t> implements: y = f(x) + x. The “+ x” at the end is the shortcut. It allows the gradient to pass backwards directly. By stacking these layers, the gradient could theoretically “skip” over all the intermediate layers and reach the bottom without being diminished.</a:t>
            </a:r>
          </a:p>
          <a:p>
            <a:endParaRPr lang="en-US" dirty="0"/>
          </a:p>
        </p:txBody>
      </p:sp>
      <p:sp>
        <p:nvSpPr>
          <p:cNvPr id="4" name="Title 1"/>
          <p:cNvSpPr>
            <a:spLocks noGrp="1"/>
          </p:cNvSpPr>
          <p:nvPr>
            <p:ph type="title"/>
          </p:nvPr>
        </p:nvSpPr>
        <p:spPr>
          <a:xfrm>
            <a:off x="457200" y="0"/>
            <a:ext cx="8229600" cy="1143000"/>
          </a:xfrm>
        </p:spPr>
        <p:txBody>
          <a:bodyPr/>
          <a:lstStyle/>
          <a:p>
            <a:r>
              <a:rPr lang="en-US" dirty="0">
                <a:solidFill>
                  <a:srgbClr val="92D050"/>
                </a:solidFill>
              </a:rPr>
              <a:t>Residual module</a:t>
            </a:r>
          </a:p>
        </p:txBody>
      </p:sp>
    </p:spTree>
    <p:extLst>
      <p:ext uri="{BB962C8B-B14F-4D97-AF65-F5344CB8AC3E}">
        <p14:creationId xmlns:p14="http://schemas.microsoft.com/office/powerpoint/2010/main" val="3221951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197"/>
            <a:ext cx="8229600" cy="1143000"/>
          </a:xfrm>
        </p:spPr>
        <p:txBody>
          <a:bodyPr/>
          <a:lstStyle/>
          <a:p>
            <a:r>
              <a:rPr lang="en-US" dirty="0">
                <a:solidFill>
                  <a:srgbClr val="92D050"/>
                </a:solidFill>
              </a:rPr>
              <a:t>Summary of </a:t>
            </a:r>
            <a:r>
              <a:rPr lang="en-US" dirty="0" err="1">
                <a:solidFill>
                  <a:srgbClr val="92D050"/>
                </a:solidFill>
              </a:rPr>
              <a:t>ResNet</a:t>
            </a:r>
            <a:endParaRPr lang="en-US" dirty="0">
              <a:solidFill>
                <a:srgbClr val="92D050"/>
              </a:solidFill>
            </a:endParaRPr>
          </a:p>
        </p:txBody>
      </p:sp>
      <p:sp>
        <p:nvSpPr>
          <p:cNvPr id="3" name="Content Placeholder 2"/>
          <p:cNvSpPr>
            <a:spLocks noGrp="1"/>
          </p:cNvSpPr>
          <p:nvPr>
            <p:ph idx="1"/>
          </p:nvPr>
        </p:nvSpPr>
        <p:spPr>
          <a:xfrm>
            <a:off x="152400" y="990600"/>
            <a:ext cx="8686800" cy="5638800"/>
          </a:xfrm>
        </p:spPr>
        <p:txBody>
          <a:bodyPr>
            <a:normAutofit/>
          </a:bodyPr>
          <a:lstStyle/>
          <a:p>
            <a:pPr algn="just" fontAlgn="base"/>
            <a:r>
              <a:rPr lang="en-US" sz="2800" dirty="0"/>
              <a:t>Ultra-deep with 152 layers…</a:t>
            </a:r>
          </a:p>
          <a:p>
            <a:pPr algn="just" fontAlgn="base"/>
            <a:r>
              <a:rPr lang="en-US" sz="2800" dirty="0"/>
              <a:t>Interesting note that after only the </a:t>
            </a:r>
            <a:r>
              <a:rPr lang="en-US" sz="2800" i="1" dirty="0"/>
              <a:t>first 2</a:t>
            </a:r>
            <a:r>
              <a:rPr lang="en-US" sz="2800" dirty="0"/>
              <a:t> layers, the spatial size gets compressed from an input volume of 224x224 to a 56x56 volume.</a:t>
            </a:r>
          </a:p>
          <a:p>
            <a:pPr algn="just" fontAlgn="base"/>
            <a:r>
              <a:rPr lang="en-US" sz="2800" dirty="0"/>
              <a:t>The group tried a 1202-layer network, but got a lower test accuracy, presumably due to </a:t>
            </a:r>
            <a:r>
              <a:rPr lang="en-US" sz="2800" dirty="0" err="1"/>
              <a:t>overfitting</a:t>
            </a:r>
            <a:r>
              <a:rPr lang="en-US" sz="2800" dirty="0"/>
              <a:t>.</a:t>
            </a:r>
          </a:p>
          <a:p>
            <a:pPr algn="just" fontAlgn="base"/>
            <a:r>
              <a:rPr lang="en-US" sz="2800" dirty="0"/>
              <a:t>Trained on an 8 GPU machine for </a:t>
            </a:r>
            <a:r>
              <a:rPr lang="en-US" sz="2800" b="1" dirty="0"/>
              <a:t>two to three weeks</a:t>
            </a:r>
            <a:r>
              <a:rPr lang="en-US" sz="2800" dirty="0"/>
              <a:t>.</a:t>
            </a:r>
          </a:p>
        </p:txBody>
      </p:sp>
    </p:spTree>
    <p:extLst>
      <p:ext uri="{BB962C8B-B14F-4D97-AF65-F5344CB8AC3E}">
        <p14:creationId xmlns:p14="http://schemas.microsoft.com/office/powerpoint/2010/main" val="3025335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92D050"/>
                </a:solidFill>
              </a:rPr>
              <a:t>InceptionResNet</a:t>
            </a:r>
            <a:endParaRPr lang="en-US" dirty="0">
              <a:solidFill>
                <a:srgbClr val="92D050"/>
              </a:solidFill>
            </a:endParaRPr>
          </a:p>
        </p:txBody>
      </p:sp>
      <p:pic>
        <p:nvPicPr>
          <p:cNvPr id="4" name="Picture 3"/>
          <p:cNvPicPr>
            <a:picLocks noChangeAspect="1"/>
          </p:cNvPicPr>
          <p:nvPr/>
        </p:nvPicPr>
        <p:blipFill>
          <a:blip r:embed="rId2"/>
          <a:stretch>
            <a:fillRect/>
          </a:stretch>
        </p:blipFill>
        <p:spPr>
          <a:xfrm>
            <a:off x="1676400" y="1447800"/>
            <a:ext cx="5506163" cy="4730410"/>
          </a:xfrm>
          <a:prstGeom prst="rect">
            <a:avLst/>
          </a:prstGeom>
        </p:spPr>
      </p:pic>
    </p:spTree>
    <p:extLst>
      <p:ext uri="{BB962C8B-B14F-4D97-AF65-F5344CB8AC3E}">
        <p14:creationId xmlns:p14="http://schemas.microsoft.com/office/powerpoint/2010/main" val="1408826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92D050"/>
                </a:solidFill>
              </a:rPr>
              <a:t>HighwayNet</a:t>
            </a:r>
            <a:endParaRPr lang="en-US" dirty="0">
              <a:solidFill>
                <a:srgbClr val="92D050"/>
              </a:solidFill>
            </a:endParaRPr>
          </a:p>
        </p:txBody>
      </p:sp>
      <p:sp>
        <p:nvSpPr>
          <p:cNvPr id="3" name="Content Placeholder 2"/>
          <p:cNvSpPr>
            <a:spLocks noGrp="1"/>
          </p:cNvSpPr>
          <p:nvPr>
            <p:ph idx="1"/>
          </p:nvPr>
        </p:nvSpPr>
        <p:spPr/>
        <p:txBody>
          <a:bodyPr/>
          <a:lstStyle/>
          <a:p>
            <a:pPr algn="just"/>
            <a:r>
              <a:rPr lang="en-US" dirty="0"/>
              <a:t>It builds on the </a:t>
            </a:r>
            <a:r>
              <a:rPr lang="en-US" dirty="0" err="1"/>
              <a:t>ResNet</a:t>
            </a:r>
            <a:r>
              <a:rPr lang="en-US" dirty="0"/>
              <a:t> in a pretty intuitive way. The Highway Network preserves the shortcuts introduced in the </a:t>
            </a:r>
            <a:r>
              <a:rPr lang="en-US" dirty="0" err="1"/>
              <a:t>ResNet</a:t>
            </a:r>
            <a:r>
              <a:rPr lang="en-US" dirty="0"/>
              <a:t>, but augments them with a learnable parameter to determine to what extent each layer should be a skip connection or a nonlinear connection.</a:t>
            </a:r>
          </a:p>
        </p:txBody>
      </p:sp>
    </p:spTree>
    <p:extLst>
      <p:ext uri="{BB962C8B-B14F-4D97-AF65-F5344CB8AC3E}">
        <p14:creationId xmlns:p14="http://schemas.microsoft.com/office/powerpoint/2010/main" val="39516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92D050"/>
                </a:solidFill>
              </a:rPr>
              <a:t>DenseNet</a:t>
            </a:r>
            <a:endParaRPr lang="en-US" dirty="0">
              <a:solidFill>
                <a:srgbClr val="92D050"/>
              </a:solidFill>
            </a:endParaRPr>
          </a:p>
        </p:txBody>
      </p:sp>
      <p:sp>
        <p:nvSpPr>
          <p:cNvPr id="3" name="Content Placeholder 2"/>
          <p:cNvSpPr>
            <a:spLocks noGrp="1"/>
          </p:cNvSpPr>
          <p:nvPr>
            <p:ph idx="1"/>
          </p:nvPr>
        </p:nvSpPr>
        <p:spPr>
          <a:xfrm>
            <a:off x="304800" y="1600200"/>
            <a:ext cx="8382000" cy="4525963"/>
          </a:xfrm>
        </p:spPr>
        <p:txBody>
          <a:bodyPr/>
          <a:lstStyle/>
          <a:p>
            <a:pPr algn="just"/>
            <a:r>
              <a:rPr lang="en-US" dirty="0"/>
              <a:t>This architecture takes the insights of the skip connection to the extreme. The idea here is that if connecting a skip connection from the previous layer improves performance, why not connect every layer to every other layer? That way there is always a direct route for the information backwards through the network.</a:t>
            </a:r>
          </a:p>
        </p:txBody>
      </p:sp>
    </p:spTree>
    <p:extLst>
      <p:ext uri="{BB962C8B-B14F-4D97-AF65-F5344CB8AC3E}">
        <p14:creationId xmlns:p14="http://schemas.microsoft.com/office/powerpoint/2010/main" val="2493726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92D050"/>
                </a:solidFill>
              </a:rPr>
              <a:t>DenseNet</a:t>
            </a:r>
            <a:endParaRPr lang="en-US" dirty="0">
              <a:solidFill>
                <a:srgbClr val="92D050"/>
              </a:solidFill>
            </a:endParaRPr>
          </a:p>
        </p:txBody>
      </p:sp>
      <p:pic>
        <p:nvPicPr>
          <p:cNvPr id="11266" name="Picture 2" descr="https://cdn-images-1.medium.com/max/1400/1*KOjUX1ST5RnDOZWWLWRGk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9" y="1516278"/>
            <a:ext cx="9046191" cy="4882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0540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Summary of core ideas</a:t>
            </a:r>
          </a:p>
        </p:txBody>
      </p:sp>
      <p:sp>
        <p:nvSpPr>
          <p:cNvPr id="4" name="Content Placeholder 2"/>
          <p:cNvSpPr>
            <a:spLocks noGrp="1"/>
          </p:cNvSpPr>
          <p:nvPr>
            <p:ph idx="1"/>
          </p:nvPr>
        </p:nvSpPr>
        <p:spPr/>
        <p:txBody>
          <a:bodyPr/>
          <a:lstStyle/>
          <a:p>
            <a:pPr marL="457200" indent="-457200" algn="just">
              <a:buFont typeface="Arial"/>
              <a:buChar char="•"/>
            </a:pPr>
            <a:r>
              <a:rPr lang="en-US" dirty="0"/>
              <a:t>Reduce filter sizes (except possibly at the lowest layer), factorize filters aggressively</a:t>
            </a:r>
          </a:p>
          <a:p>
            <a:pPr marL="457200" indent="-457200" algn="just">
              <a:buFont typeface="Arial"/>
              <a:buChar char="•"/>
            </a:pPr>
            <a:r>
              <a:rPr lang="en-US" dirty="0"/>
              <a:t>Use 1x1 convolutions to reduce and expand the number of feature maps judiciously</a:t>
            </a:r>
          </a:p>
          <a:p>
            <a:pPr marL="457200" indent="-457200" algn="just">
              <a:buFont typeface="Arial"/>
              <a:buChar char="•"/>
            </a:pPr>
            <a:r>
              <a:rPr lang="en-US" dirty="0"/>
              <a:t>Use skip connections and/or create multiple paths through the network</a:t>
            </a:r>
          </a:p>
          <a:p>
            <a:pPr marL="457200" indent="-457200">
              <a:buFont typeface="Arial"/>
              <a:buChar char="•"/>
            </a:pPr>
            <a:endParaRPr lang="en-US" dirty="0"/>
          </a:p>
        </p:txBody>
      </p:sp>
    </p:spTree>
    <p:extLst>
      <p:ext uri="{BB962C8B-B14F-4D97-AF65-F5344CB8AC3E}">
        <p14:creationId xmlns:p14="http://schemas.microsoft.com/office/powerpoint/2010/main" val="2558387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92D050"/>
                </a:solidFill>
              </a:rPr>
              <a:t>Keras</a:t>
            </a:r>
            <a:r>
              <a:rPr lang="en-US" dirty="0">
                <a:solidFill>
                  <a:srgbClr val="92D050"/>
                </a:solidFill>
              </a:rPr>
              <a:t> support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5796403"/>
              </p:ext>
            </p:extLst>
          </p:nvPr>
        </p:nvGraphicFramePr>
        <p:xfrm>
          <a:off x="533400" y="1524000"/>
          <a:ext cx="8153397" cy="4876799"/>
        </p:xfrm>
        <a:graphic>
          <a:graphicData uri="http://schemas.openxmlformats.org/drawingml/2006/table">
            <a:tbl>
              <a:tblPr/>
              <a:tblGrid>
                <a:gridCol w="1164771">
                  <a:extLst>
                    <a:ext uri="{9D8B030D-6E8A-4147-A177-3AD203B41FA5}">
                      <a16:colId xmlns:a16="http://schemas.microsoft.com/office/drawing/2014/main" val="20000"/>
                    </a:ext>
                  </a:extLst>
                </a:gridCol>
                <a:gridCol w="1164771">
                  <a:extLst>
                    <a:ext uri="{9D8B030D-6E8A-4147-A177-3AD203B41FA5}">
                      <a16:colId xmlns:a16="http://schemas.microsoft.com/office/drawing/2014/main" val="20001"/>
                    </a:ext>
                  </a:extLst>
                </a:gridCol>
                <a:gridCol w="1164771">
                  <a:extLst>
                    <a:ext uri="{9D8B030D-6E8A-4147-A177-3AD203B41FA5}">
                      <a16:colId xmlns:a16="http://schemas.microsoft.com/office/drawing/2014/main" val="20002"/>
                    </a:ext>
                  </a:extLst>
                </a:gridCol>
                <a:gridCol w="1164771">
                  <a:extLst>
                    <a:ext uri="{9D8B030D-6E8A-4147-A177-3AD203B41FA5}">
                      <a16:colId xmlns:a16="http://schemas.microsoft.com/office/drawing/2014/main" val="20003"/>
                    </a:ext>
                  </a:extLst>
                </a:gridCol>
                <a:gridCol w="1164771">
                  <a:extLst>
                    <a:ext uri="{9D8B030D-6E8A-4147-A177-3AD203B41FA5}">
                      <a16:colId xmlns:a16="http://schemas.microsoft.com/office/drawing/2014/main" val="20004"/>
                    </a:ext>
                  </a:extLst>
                </a:gridCol>
                <a:gridCol w="1164771">
                  <a:extLst>
                    <a:ext uri="{9D8B030D-6E8A-4147-A177-3AD203B41FA5}">
                      <a16:colId xmlns:a16="http://schemas.microsoft.com/office/drawing/2014/main" val="20005"/>
                    </a:ext>
                  </a:extLst>
                </a:gridCol>
                <a:gridCol w="1164771">
                  <a:extLst>
                    <a:ext uri="{9D8B030D-6E8A-4147-A177-3AD203B41FA5}">
                      <a16:colId xmlns:a16="http://schemas.microsoft.com/office/drawing/2014/main" val="20006"/>
                    </a:ext>
                  </a:extLst>
                </a:gridCol>
              </a:tblGrid>
              <a:tr h="760879">
                <a:tc>
                  <a:txBody>
                    <a:bodyPr/>
                    <a:lstStyle/>
                    <a:p>
                      <a:pPr algn="ctr" fontAlgn="base"/>
                      <a:r>
                        <a:rPr lang="en-US" sz="1300" b="1" dirty="0">
                          <a:solidFill>
                            <a:srgbClr val="222222"/>
                          </a:solidFill>
                          <a:effectLst/>
                          <a:latin typeface="Source Sans Pro"/>
                        </a:rPr>
                        <a:t>Model</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6F6F6"/>
                    </a:solidFill>
                  </a:tcPr>
                </a:tc>
                <a:tc>
                  <a:txBody>
                    <a:bodyPr/>
                    <a:lstStyle/>
                    <a:p>
                      <a:pPr algn="ctr" fontAlgn="base"/>
                      <a:r>
                        <a:rPr lang="en-US" sz="1300" b="1">
                          <a:solidFill>
                            <a:srgbClr val="222222"/>
                          </a:solidFill>
                          <a:effectLst/>
                          <a:latin typeface="Source Sans Pro"/>
                        </a:rPr>
                        <a:t>Image size</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6F6F6"/>
                    </a:solidFill>
                  </a:tcPr>
                </a:tc>
                <a:tc>
                  <a:txBody>
                    <a:bodyPr/>
                    <a:lstStyle/>
                    <a:p>
                      <a:pPr algn="ctr" fontAlgn="base"/>
                      <a:r>
                        <a:rPr lang="en-US" sz="1300" b="1">
                          <a:solidFill>
                            <a:srgbClr val="222222"/>
                          </a:solidFill>
                          <a:effectLst/>
                          <a:latin typeface="Source Sans Pro"/>
                        </a:rPr>
                        <a:t>Weights size</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6F6F6"/>
                    </a:solidFill>
                  </a:tcPr>
                </a:tc>
                <a:tc>
                  <a:txBody>
                    <a:bodyPr/>
                    <a:lstStyle/>
                    <a:p>
                      <a:pPr algn="ctr" fontAlgn="base"/>
                      <a:r>
                        <a:rPr lang="en-US" sz="1300" b="1">
                          <a:solidFill>
                            <a:srgbClr val="222222"/>
                          </a:solidFill>
                          <a:effectLst/>
                          <a:latin typeface="Source Sans Pro"/>
                        </a:rPr>
                        <a:t>Top-1 accuracy</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6F6F6"/>
                    </a:solidFill>
                  </a:tcPr>
                </a:tc>
                <a:tc>
                  <a:txBody>
                    <a:bodyPr/>
                    <a:lstStyle/>
                    <a:p>
                      <a:pPr algn="ctr" fontAlgn="base"/>
                      <a:r>
                        <a:rPr lang="en-US" sz="1300" b="1">
                          <a:solidFill>
                            <a:srgbClr val="222222"/>
                          </a:solidFill>
                          <a:effectLst/>
                          <a:latin typeface="Source Sans Pro"/>
                        </a:rPr>
                        <a:t>Top-5 accuracy</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6F6F6"/>
                    </a:solidFill>
                  </a:tcPr>
                </a:tc>
                <a:tc>
                  <a:txBody>
                    <a:bodyPr/>
                    <a:lstStyle/>
                    <a:p>
                      <a:pPr algn="ctr" fontAlgn="base"/>
                      <a:r>
                        <a:rPr lang="en-US" sz="1300" b="1">
                          <a:solidFill>
                            <a:srgbClr val="222222"/>
                          </a:solidFill>
                          <a:effectLst/>
                          <a:latin typeface="Source Sans Pro"/>
                        </a:rPr>
                        <a:t>Parameters</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6F6F6"/>
                    </a:solidFill>
                  </a:tcPr>
                </a:tc>
                <a:tc>
                  <a:txBody>
                    <a:bodyPr/>
                    <a:lstStyle/>
                    <a:p>
                      <a:pPr algn="ctr" fontAlgn="base"/>
                      <a:r>
                        <a:rPr lang="en-US" sz="1300" b="1">
                          <a:solidFill>
                            <a:srgbClr val="222222"/>
                          </a:solidFill>
                          <a:effectLst/>
                          <a:latin typeface="Source Sans Pro"/>
                        </a:rPr>
                        <a:t>Depth</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6F6F6"/>
                    </a:solidFill>
                  </a:tcPr>
                </a:tc>
                <a:extLst>
                  <a:ext uri="{0D108BD9-81ED-4DB2-BD59-A6C34878D82A}">
                    <a16:rowId xmlns:a16="http://schemas.microsoft.com/office/drawing/2014/main" val="10000"/>
                  </a:ext>
                </a:extLst>
              </a:tr>
              <a:tr h="560258">
                <a:tc>
                  <a:txBody>
                    <a:bodyPr/>
                    <a:lstStyle/>
                    <a:p>
                      <a:pPr algn="ctr" fontAlgn="base"/>
                      <a:r>
                        <a:rPr lang="en-US" sz="1300">
                          <a:effectLst/>
                          <a:latin typeface="inherit"/>
                        </a:rPr>
                        <a:t>Xception</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299 x 299</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88 MB</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0.790</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0.945</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22,910,480</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126</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0258">
                <a:tc>
                  <a:txBody>
                    <a:bodyPr/>
                    <a:lstStyle/>
                    <a:p>
                      <a:pPr algn="ctr" fontAlgn="base"/>
                      <a:r>
                        <a:rPr lang="en-US" sz="1300">
                          <a:effectLst/>
                          <a:latin typeface="inherit"/>
                        </a:rPr>
                        <a:t>VGG16</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224 x 224</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528 MB</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0.715</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0.901</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138,357,544</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23</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0258">
                <a:tc>
                  <a:txBody>
                    <a:bodyPr/>
                    <a:lstStyle/>
                    <a:p>
                      <a:pPr algn="ctr" fontAlgn="base"/>
                      <a:r>
                        <a:rPr lang="en-US" sz="1300">
                          <a:effectLst/>
                          <a:latin typeface="inherit"/>
                        </a:rPr>
                        <a:t>VGG19</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224 x 224</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549 MB</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0.727</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0.910</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143,667,240</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26</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0258">
                <a:tc>
                  <a:txBody>
                    <a:bodyPr/>
                    <a:lstStyle/>
                    <a:p>
                      <a:pPr algn="ctr" fontAlgn="base"/>
                      <a:r>
                        <a:rPr lang="en-US" sz="1300">
                          <a:effectLst/>
                          <a:latin typeface="inherit"/>
                        </a:rPr>
                        <a:t>ResNet50</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224 x 224</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99 MB</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0.759</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0.929</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dirty="0">
                          <a:effectLst/>
                          <a:latin typeface="inherit"/>
                        </a:rPr>
                        <a:t>25,636,712</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168</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0258">
                <a:tc>
                  <a:txBody>
                    <a:bodyPr/>
                    <a:lstStyle/>
                    <a:p>
                      <a:pPr algn="ctr" fontAlgn="base"/>
                      <a:r>
                        <a:rPr lang="en-US" sz="1300">
                          <a:effectLst/>
                          <a:latin typeface="inherit"/>
                        </a:rPr>
                        <a:t>InceptionV3</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299 x 299</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92 MB</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0.788</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0.944</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23,851,784</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159</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60879">
                <a:tc>
                  <a:txBody>
                    <a:bodyPr/>
                    <a:lstStyle/>
                    <a:p>
                      <a:pPr algn="ctr" fontAlgn="base"/>
                      <a:r>
                        <a:rPr lang="en-US" sz="1300">
                          <a:effectLst/>
                          <a:latin typeface="inherit"/>
                        </a:rPr>
                        <a:t>Inception</a:t>
                      </a:r>
                      <a:br>
                        <a:rPr lang="en-US" sz="1300">
                          <a:effectLst/>
                          <a:latin typeface="inherit"/>
                        </a:rPr>
                      </a:br>
                      <a:r>
                        <a:rPr lang="en-US" sz="1300">
                          <a:effectLst/>
                          <a:latin typeface="inherit"/>
                        </a:rPr>
                        <a:t>ResNetV2</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299 x 299</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215 MB</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b="1">
                          <a:effectLst/>
                          <a:latin typeface="inherit"/>
                        </a:rPr>
                        <a:t>0.804</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b="1">
                          <a:effectLst/>
                          <a:latin typeface="inherit"/>
                        </a:rPr>
                        <a:t>0.953</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55,873,736</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572</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53751">
                <a:tc>
                  <a:txBody>
                    <a:bodyPr/>
                    <a:lstStyle/>
                    <a:p>
                      <a:pPr algn="ctr" fontAlgn="base"/>
                      <a:r>
                        <a:rPr lang="en-US" sz="1300">
                          <a:effectLst/>
                          <a:latin typeface="inherit"/>
                        </a:rPr>
                        <a:t>MobileNet</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224 x 224</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b="1">
                          <a:effectLst/>
                          <a:latin typeface="inherit"/>
                        </a:rPr>
                        <a:t>17 MB</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0.665</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a:effectLst/>
                          <a:latin typeface="inherit"/>
                        </a:rPr>
                        <a:t>0.871</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b="1">
                          <a:effectLst/>
                          <a:latin typeface="inherit"/>
                        </a:rPr>
                        <a:t>4,253,864</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300" dirty="0">
                          <a:effectLst/>
                          <a:latin typeface="inherit"/>
                        </a:rPr>
                        <a:t>88</a:t>
                      </a:r>
                    </a:p>
                  </a:txBody>
                  <a:tcPr marL="66715" marR="66715" marT="66715" marB="66715"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2011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Summary of </a:t>
            </a:r>
            <a:r>
              <a:rPr lang="en-US" dirty="0" err="1">
                <a:solidFill>
                  <a:srgbClr val="92D050"/>
                </a:solidFill>
              </a:rPr>
              <a:t>ImageNet</a:t>
            </a:r>
            <a:r>
              <a:rPr lang="en-US" dirty="0">
                <a:solidFill>
                  <a:srgbClr val="92D050"/>
                </a:solidFill>
              </a:rPr>
              <a:t> competition</a:t>
            </a:r>
          </a:p>
        </p:txBody>
      </p:sp>
      <p:pic>
        <p:nvPicPr>
          <p:cNvPr id="3" name="Picture 2" descr="Screen Shot 2016-03-06 at 2.42.0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19200"/>
            <a:ext cx="9144000" cy="4867965"/>
          </a:xfrm>
          <a:prstGeom prst="rect">
            <a:avLst/>
          </a:prstGeom>
        </p:spPr>
      </p:pic>
    </p:spTree>
    <p:extLst>
      <p:ext uri="{BB962C8B-B14F-4D97-AF65-F5344CB8AC3E}">
        <p14:creationId xmlns:p14="http://schemas.microsoft.com/office/powerpoint/2010/main" val="2380997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43548</TotalTime>
  <Words>1592</Words>
  <Application>Microsoft Office PowerPoint</Application>
  <PresentationFormat>On-screen Show (4:3)</PresentationFormat>
  <Paragraphs>158</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inherit</vt:lpstr>
      <vt:lpstr>Source Sans Pro</vt:lpstr>
      <vt:lpstr>Office Theme</vt:lpstr>
      <vt:lpstr>State-of-the-art Convolutional Neural Networks</vt:lpstr>
      <vt:lpstr>PowerPoint Presentation</vt:lpstr>
      <vt:lpstr>AlexNet</vt:lpstr>
      <vt:lpstr>Alexnet – ILSVRC 2012 winner</vt:lpstr>
      <vt:lpstr>Summary of AlexNet</vt:lpstr>
      <vt:lpstr>ZFNet</vt:lpstr>
      <vt:lpstr>ZFnet – ILSVRC 2013 winner</vt:lpstr>
      <vt:lpstr>Summary of ZFNet</vt:lpstr>
      <vt:lpstr>VGGNet</vt:lpstr>
      <vt:lpstr>VGGnet – ILSVRC 2014 (2nd place)</vt:lpstr>
      <vt:lpstr>Summary of VGGNet</vt:lpstr>
      <vt:lpstr>GoogleNet</vt:lpstr>
      <vt:lpstr>GoogleNet – ILSVRC 2014 winner</vt:lpstr>
      <vt:lpstr>GoogleNet – ILSVRC 2014 winner</vt:lpstr>
      <vt:lpstr>Inception Idea</vt:lpstr>
      <vt:lpstr>Naïve Inception Idea</vt:lpstr>
      <vt:lpstr>Naïve Inception Idea</vt:lpstr>
      <vt:lpstr>Improved Inception Idea</vt:lpstr>
      <vt:lpstr>Summary of GoogleNet</vt:lpstr>
      <vt:lpstr>Inception v2, v3</vt:lpstr>
      <vt:lpstr>ResNet</vt:lpstr>
      <vt:lpstr>ResNet – ILSVRC 2015 winner</vt:lpstr>
      <vt:lpstr>ResNet – ILSVRC 2015 winner</vt:lpstr>
      <vt:lpstr>Issues with deeper networks</vt:lpstr>
      <vt:lpstr>Residual module</vt:lpstr>
      <vt:lpstr>Residual module</vt:lpstr>
      <vt:lpstr>Summary of ResNet</vt:lpstr>
      <vt:lpstr>InceptionResNet</vt:lpstr>
      <vt:lpstr>HighwayNet</vt:lpstr>
      <vt:lpstr>DenseNet</vt:lpstr>
      <vt:lpstr>DenseNet</vt:lpstr>
      <vt:lpstr>Summary of core ideas</vt:lpstr>
      <vt:lpstr>Keras support</vt:lpstr>
      <vt:lpstr>Summary of ImageNet competition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Thimma Reddy</dc:creator>
  <cp:lastModifiedBy>cnu.jilla@outlook.com</cp:lastModifiedBy>
  <cp:revision>1001</cp:revision>
  <dcterms:created xsi:type="dcterms:W3CDTF">2015-05-08T00:42:03Z</dcterms:created>
  <dcterms:modified xsi:type="dcterms:W3CDTF">2026-06-08T02:07:43Z</dcterms:modified>
</cp:coreProperties>
</file>